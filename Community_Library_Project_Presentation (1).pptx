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000" b="1">
                <a:solidFill>
                  <a:srgbClr val="0E2841"/>
                </a:solidFill>
              </a:rPr>
              <a:t>Community Library Management System</a:t>
            </a:r>
          </a:p>
          <a:p>
            <a:pPr algn="ctr"/>
            <a:r>
              <a:rPr sz="2200">
                <a:solidFill>
                  <a:srgbClr val="156082"/>
                </a:solidFill>
              </a:rPr>
              <a:t>Team No. [  ]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ctr">
              <a:spcAft>
                <a:spcPts val="600"/>
              </a:spcAft>
              <a:buNone/>
            </a:pPr>
            <a:r>
              <a:rPr sz="1600">
                <a:solidFill>
                  <a:srgbClr val="0E2841"/>
                </a:solidFill>
              </a:rPr>
              <a:t>Kaustubha Srinivas Kaseebhotla   —   </a:t>
            </a:r>
            <a:r>
              <a:rPr sz="1600" b="1">
                <a:solidFill>
                  <a:srgbClr val="156082"/>
                </a:solidFill>
              </a:rPr>
              <a:t>26200300601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sz="1600">
                <a:solidFill>
                  <a:srgbClr val="0E2841"/>
                </a:solidFill>
              </a:rPr>
              <a:t>Sai Rohit Danda   —   </a:t>
            </a:r>
            <a:r>
              <a:rPr sz="1600" b="1">
                <a:solidFill>
                  <a:srgbClr val="156082"/>
                </a:solidFill>
              </a:rPr>
              <a:t>2620030558</a:t>
            </a:r>
          </a:p>
          <a:p>
            <a:pPr marL="0" indent="0" algn="ctr">
              <a:spcBef>
                <a:spcPts val="1000"/>
              </a:spcBef>
              <a:buNone/>
            </a:pPr>
            <a:r>
              <a:rPr sz="1300">
                <a:solidFill>
                  <a:srgbClr val="5A5A5A"/>
                </a:solidFill>
              </a:rPr>
              <a:t>KL University, Hyderabad   ·   Programming in Java   ·   CO1 – CO6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7D318-FBF5-482E-BB10-69D54EA53D7B}" type="datetime1">
              <a:rPr lang="en-IN" smtClean="0"/>
              <a:t>15-10-2026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49808"/>
            <a:ext cx="10515600" cy="868680"/>
          </a:xfrm>
        </p:spPr>
        <p:txBody>
          <a:bodyPr wrap="square" anchor="ctr"/>
          <a:lstStyle/>
          <a:p>
            <a:r>
              <a:rPr sz="2800" b="1">
                <a:solidFill>
                  <a:srgbClr val="0E2841"/>
                </a:solidFill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2F73-2B13-AB30-C0D8-CBA5CE269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783080"/>
            <a:ext cx="6537960" cy="4206240"/>
          </a:xfrm>
        </p:spPr>
        <p:txBody>
          <a:bodyPr wrap="square"/>
          <a:lstStyle/>
          <a:p>
            <a:pPr marL="0" indent="0">
              <a:spcAft>
                <a:spcPts val="1100"/>
              </a:spcAft>
              <a:buNone/>
            </a:pPr>
            <a:r>
              <a:rPr sz="1500">
                <a:solidFill>
                  <a:srgbClr val="0E2841"/>
                </a:solidFill>
              </a:rPr>
              <a:t>The Community Library Management System is a menu-driven Java application that replaces the paper register used in a small community library.</a:t>
            </a:r>
            <a:endParaRPr lang="en-IN"/>
          </a:p>
          <a:p>
            <a:pPr marL="0" indent="0">
              <a:spcAft>
                <a:spcPts val="1100"/>
              </a:spcAft>
              <a:buNone/>
            </a:pPr>
            <a:r>
              <a:rPr sz="1500">
                <a:solidFill>
                  <a:srgbClr val="0E2841"/>
                </a:solidFill>
              </a:rPr>
              <a:t>Every book is stored as an object inside a fixed array. The librarian can add and validate records, list them sorted by ID or title, search by ID or by part of a title, issue and return copies, and read category-wise statistics built from a two-dimensional count table.</a:t>
            </a:r>
          </a:p>
          <a:p>
            <a:pPr marL="0" indent="0">
              <a:spcAft>
                <a:spcPts val="1100"/>
              </a:spcAft>
              <a:buNone/>
            </a:pPr>
            <a:r>
              <a:rPr sz="1500">
                <a:solidFill>
                  <a:srgbClr val="0E2841"/>
                </a:solidFill>
              </a:rPr>
              <a:t>The catalogue is written to a plain text file and read back on the next run, so the records survive a restart. A Smart Reports option re-reads the same data through collections, lambdas and stream pipelines.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7726679" y="1783080"/>
            <a:ext cx="3630168" cy="288036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 w="12700">
            <a:solidFill>
              <a:srgbClr val="C4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46304" bIns="109728"/>
          <a:lstStyle/>
          <a:p>
            <a:pPr algn="l" marL="0" indent="0">
              <a:spcAft>
                <a:spcPts val="900"/>
              </a:spcAft>
              <a:buNone/>
            </a:pPr>
            <a:r>
              <a:rPr sz="1400" b="1">
                <a:solidFill>
                  <a:srgbClr val="156082"/>
                </a:solidFill>
              </a:rPr>
              <a:t>At a glance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 b="1">
                <a:solidFill>
                  <a:srgbClr val="0E2841"/>
                </a:solidFill>
              </a:rPr>
              <a:t>Language:  </a:t>
            </a:r>
            <a:r>
              <a:rPr sz="1300">
                <a:solidFill>
                  <a:srgbClr val="0E2841"/>
                </a:solidFill>
              </a:rPr>
              <a:t>Java SE 8 and above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 b="1">
                <a:solidFill>
                  <a:srgbClr val="0E2841"/>
                </a:solidFill>
              </a:rPr>
              <a:t>Storage:  </a:t>
            </a:r>
            <a:r>
              <a:rPr sz="1300">
                <a:solidFill>
                  <a:srgbClr val="0E2841"/>
                </a:solidFill>
              </a:rPr>
              <a:t>Book[ ] array + library.txt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 b="1">
                <a:solidFill>
                  <a:srgbClr val="0E2841"/>
                </a:solidFill>
              </a:rPr>
              <a:t>Capacity:  </a:t>
            </a:r>
            <a:r>
              <a:rPr sz="1300">
                <a:solidFill>
                  <a:srgbClr val="0E2841"/>
                </a:solidFill>
              </a:rPr>
              <a:t>50 book records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 b="1">
                <a:solidFill>
                  <a:srgbClr val="0E2841"/>
                </a:solidFill>
              </a:rPr>
              <a:t>Interface:  </a:t>
            </a:r>
            <a:r>
              <a:rPr sz="1300">
                <a:solidFill>
                  <a:srgbClr val="0E2841"/>
                </a:solidFill>
              </a:rPr>
              <a:t>Console, 10-option menu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 b="1">
                <a:solidFill>
                  <a:srgbClr val="0E2841"/>
                </a:solidFill>
              </a:rPr>
              <a:t>Classes:  </a:t>
            </a:r>
            <a:r>
              <a:rPr sz="1300">
                <a:solidFill>
                  <a:srgbClr val="0E2841"/>
                </a:solidFill>
              </a:rPr>
              <a:t>5 top-level types</a:t>
            </a:r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49808"/>
            <a:ext cx="10515600" cy="868680"/>
          </a:xfrm>
        </p:spPr>
        <p:txBody>
          <a:bodyPr wrap="square" anchor="ctr"/>
          <a:lstStyle/>
          <a:p>
            <a:r>
              <a:rPr sz="2800" b="1">
                <a:solidFill>
                  <a:srgbClr val="0E2841"/>
                </a:solidFill>
              </a:rPr>
              <a:t>Understanding the Problem Statement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9410-9F72-4C75-ADBD-63106BC7C7D6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3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5029200" cy="42062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sz="1800" b="1">
                <a:solidFill>
                  <a:srgbClr val="E97132"/>
                </a:solidFill>
              </a:rPr>
              <a:t>The problem today</a:t>
            </a:r>
          </a:p>
          <a:p>
            <a:pPr marL="0" indent="0">
              <a:spcAft>
                <a:spcPts val="700"/>
              </a:spcAft>
              <a:buNone/>
            </a:pPr>
            <a:r>
              <a:rPr sz="1500" b="1">
                <a:solidFill>
                  <a:srgbClr val="E97132"/>
                </a:solidFill>
              </a:rPr>
              <a:t>✕  </a:t>
            </a:r>
            <a:r>
              <a:rPr sz="1500">
                <a:solidFill>
                  <a:srgbClr val="0E2841"/>
                </a:solidFill>
              </a:rPr>
              <a:t>Books are tracked by hand in a paper register</a:t>
            </a:r>
          </a:p>
          <a:p>
            <a:pPr marL="0" indent="0">
              <a:spcAft>
                <a:spcPts val="700"/>
              </a:spcAft>
              <a:buNone/>
            </a:pPr>
            <a:r>
              <a:rPr sz="1500" b="1">
                <a:solidFill>
                  <a:srgbClr val="E97132"/>
                </a:solidFill>
              </a:rPr>
              <a:t>✕  </a:t>
            </a:r>
            <a:r>
              <a:rPr sz="1500">
                <a:solidFill>
                  <a:srgbClr val="0E2841"/>
                </a:solidFill>
              </a:rPr>
              <a:t>Slow to check whether a title is on the shelf</a:t>
            </a:r>
          </a:p>
          <a:p>
            <a:pPr marL="0" indent="0">
              <a:spcAft>
                <a:spcPts val="700"/>
              </a:spcAft>
              <a:buNone/>
            </a:pPr>
            <a:r>
              <a:rPr sz="1500" b="1">
                <a:solidFill>
                  <a:srgbClr val="E97132"/>
                </a:solidFill>
              </a:rPr>
              <a:t>✕  </a:t>
            </a:r>
            <a:r>
              <a:rPr sz="1500">
                <a:solidFill>
                  <a:srgbClr val="0E2841"/>
                </a:solidFill>
              </a:rPr>
              <a:t>The same Book ID gets written twice by mistake</a:t>
            </a:r>
          </a:p>
          <a:p>
            <a:pPr marL="0" indent="0">
              <a:spcAft>
                <a:spcPts val="700"/>
              </a:spcAft>
              <a:buNone/>
            </a:pPr>
            <a:r>
              <a:rPr sz="1500" b="1">
                <a:solidFill>
                  <a:srgbClr val="E97132"/>
                </a:solidFill>
              </a:rPr>
              <a:t>✕  </a:t>
            </a:r>
            <a:r>
              <a:rPr sz="1500">
                <a:solidFill>
                  <a:srgbClr val="0E2841"/>
                </a:solidFill>
              </a:rPr>
              <a:t>Counting issued books means reading every page</a:t>
            </a:r>
          </a:p>
          <a:p>
            <a:pPr marL="0" indent="0">
              <a:spcAft>
                <a:spcPts val="700"/>
              </a:spcAft>
              <a:buNone/>
            </a:pPr>
            <a:r>
              <a:rPr sz="1500" b="1">
                <a:solidFill>
                  <a:srgbClr val="E97132"/>
                </a:solidFill>
              </a:rPr>
              <a:t>✕  </a:t>
            </a:r>
            <a:r>
              <a:rPr sz="1500">
                <a:solidFill>
                  <a:srgbClr val="0E2841"/>
                </a:solidFill>
              </a:rPr>
              <a:t>No easy way to see the most borrowed category</a:t>
            </a:r>
          </a:p>
          <a:p>
            <a:pPr marL="0" indent="0">
              <a:spcAft>
                <a:spcPts val="700"/>
              </a:spcAft>
              <a:buNone/>
            </a:pPr>
            <a:r>
              <a:rPr sz="1500" b="1">
                <a:solidFill>
                  <a:srgbClr val="E97132"/>
                </a:solidFill>
              </a:rPr>
              <a:t>✕  </a:t>
            </a:r>
            <a:r>
              <a:rPr sz="1500">
                <a:solidFill>
                  <a:srgbClr val="0E2841"/>
                </a:solidFill>
              </a:rPr>
              <a:t>Everything is lost if the register is damaged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783080"/>
            <a:ext cx="5029200" cy="420624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sz="1800" b="1">
                <a:solidFill>
                  <a:srgbClr val="196B24"/>
                </a:solidFill>
              </a:rPr>
              <a:t>What the system does instead</a:t>
            </a:r>
          </a:p>
          <a:p>
            <a:pPr marL="0" indent="0">
              <a:spcAft>
                <a:spcPts val="700"/>
              </a:spcAft>
              <a:buNone/>
            </a:pPr>
            <a:r>
              <a:rPr sz="1500" b="1">
                <a:solidFill>
                  <a:srgbClr val="196B24"/>
                </a:solidFill>
              </a:rPr>
              <a:t>✓  </a:t>
            </a:r>
            <a:r>
              <a:rPr sz="1500">
                <a:solidFill>
                  <a:srgbClr val="0E2841"/>
                </a:solidFill>
              </a:rPr>
              <a:t>One Book object per title, held in a typed array</a:t>
            </a:r>
          </a:p>
          <a:p>
            <a:pPr marL="0" indent="0">
              <a:spcAft>
                <a:spcPts val="700"/>
              </a:spcAft>
              <a:buNone/>
            </a:pPr>
            <a:r>
              <a:rPr sz="1500" b="1">
                <a:solidFill>
                  <a:srgbClr val="196B24"/>
                </a:solidFill>
              </a:rPr>
              <a:t>✓  </a:t>
            </a:r>
            <a:r>
              <a:rPr sz="1500">
                <a:solidFill>
                  <a:srgbClr val="0E2841"/>
                </a:solidFill>
              </a:rPr>
              <a:t>Search by ID, by title keyword, or binary search</a:t>
            </a:r>
          </a:p>
          <a:p>
            <a:pPr marL="0" indent="0">
              <a:spcAft>
                <a:spcPts val="700"/>
              </a:spcAft>
              <a:buNone/>
            </a:pPr>
            <a:r>
              <a:rPr sz="1500" b="1">
                <a:solidFill>
                  <a:srgbClr val="196B24"/>
                </a:solidFill>
              </a:rPr>
              <a:t>✓  </a:t>
            </a:r>
            <a:r>
              <a:rPr sz="1500">
                <a:solidFill>
                  <a:srgbClr val="0E2841"/>
                </a:solidFill>
              </a:rPr>
              <a:t>Duplicate and non-positive IDs rejected on entry</a:t>
            </a:r>
          </a:p>
          <a:p>
            <a:pPr marL="0" indent="0">
              <a:spcAft>
                <a:spcPts val="700"/>
              </a:spcAft>
              <a:buNone/>
            </a:pPr>
            <a:r>
              <a:rPr sz="1500" b="1">
                <a:solidFill>
                  <a:srgbClr val="196B24"/>
                </a:solidFill>
              </a:rPr>
              <a:t>✓  </a:t>
            </a:r>
            <a:r>
              <a:rPr sz="1500">
                <a:solidFill>
                  <a:srgbClr val="0E2841"/>
                </a:solidFill>
              </a:rPr>
              <a:t>Issue status kept as a boolean on every object</a:t>
            </a:r>
          </a:p>
          <a:p>
            <a:pPr marL="0" indent="0">
              <a:spcAft>
                <a:spcPts val="700"/>
              </a:spcAft>
              <a:buNone/>
            </a:pPr>
            <a:r>
              <a:rPr sz="1500" b="1">
                <a:solidFill>
                  <a:srgbClr val="196B24"/>
                </a:solidFill>
              </a:rPr>
              <a:t>✓  </a:t>
            </a:r>
            <a:r>
              <a:rPr sz="1500">
                <a:solidFill>
                  <a:srgbClr val="0E2841"/>
                </a:solidFill>
              </a:rPr>
              <a:t>Category totals built from a 2-D count table</a:t>
            </a:r>
          </a:p>
          <a:p>
            <a:pPr marL="0" indent="0">
              <a:spcAft>
                <a:spcPts val="700"/>
              </a:spcAft>
              <a:buNone/>
            </a:pPr>
            <a:r>
              <a:rPr sz="1500" b="1">
                <a:solidFill>
                  <a:srgbClr val="196B24"/>
                </a:solidFill>
              </a:rPr>
              <a:t>✓  </a:t>
            </a:r>
            <a:r>
              <a:rPr sz="1500">
                <a:solidFill>
                  <a:srgbClr val="0E2841"/>
                </a:solidFill>
              </a:rPr>
              <a:t>Catalogue saved to library.txt and reloaded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484632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 w="12700">
            <a:solidFill>
              <a:srgbClr val="C4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46304" bIns="109728"/>
          <a:lstStyle/>
          <a:p>
            <a:pPr algn="l" marL="0" indent="0">
              <a:spcAft>
                <a:spcPts val="900"/>
              </a:spcAft>
              <a:buNone/>
            </a:pPr>
            <a:r>
              <a:rPr sz="1500" b="1">
                <a:solidFill>
                  <a:srgbClr val="156082"/>
                </a:solidFill>
              </a:rPr>
              <a:t>In one sentence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400">
                <a:solidFill>
                  <a:srgbClr val="0E2841"/>
                </a:solidFill>
              </a:rPr>
              <a:t>One Java program replaces the register: a Book object per title, an array and a text file for storage, and validation at every point where data is entered.</a:t>
            </a:r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49808"/>
            <a:ext cx="10515600" cy="868680"/>
          </a:xfrm>
        </p:spPr>
        <p:txBody>
          <a:bodyPr wrap="square" anchor="ctr"/>
          <a:lstStyle/>
          <a:p>
            <a:r>
              <a:rPr sz="2800" b="1">
                <a:solidFill>
                  <a:srgbClr val="0E2841"/>
                </a:solidFill>
              </a:rPr>
              <a:t>CO 1  ·  Java Basics and Problem Solving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5369-B8D0-CB2C-61B6-348BDF6E4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783080"/>
            <a:ext cx="5989320" cy="422452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Scanner reads every value typed at the console</a:t>
            </a:r>
            <a:endParaRPr lang="en-IN"/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Variables, primitive types and constants (MAX_BOOKS = 50)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Arithmetic, relational and logical operators drive validation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Ternary operator chooses the “Issued” / “Available” label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Unary and compound assignment for counters (count++, +=)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Typecasting int to double so percentages keep their decimals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Formatted printing with printf() and String.format()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212C-F907-4AC4-966E-162B34E8EFA5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4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7059168" y="1783080"/>
            <a:ext cx="4297680" cy="4224528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109728" bIns="73152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1000" b="1">
                <a:solidFill>
                  <a:srgbClr val="8D9BAE"/>
                </a:solidFill>
                <a:latin typeface="Courier New"/>
              </a:rPr>
              <a:t>input, operators and typecasting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F0A64A"/>
                </a:solidFill>
                <a:latin typeface="Courier New"/>
              </a:rPr>
              <a:t>static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F0A64A"/>
                </a:solidFill>
                <a:latin typeface="Courier New"/>
              </a:rPr>
              <a:t>final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F0A64A"/>
                </a:solidFill>
                <a:latin typeface="Courier New"/>
              </a:rPr>
              <a:t>int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MAX_BOOKS</a:t>
            </a:r>
            <a:r>
              <a:rPr sz="1100">
                <a:solidFill>
                  <a:srgbClr val="E6E9ED"/>
                </a:solidFill>
                <a:latin typeface="Courier New"/>
              </a:rPr>
              <a:t> = 50;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Scanner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sc</a:t>
            </a:r>
            <a:r>
              <a:rPr sz="1100">
                <a:solidFill>
                  <a:srgbClr val="E6E9ED"/>
                </a:solidFill>
                <a:latin typeface="Courier New"/>
              </a:rPr>
              <a:t> = </a:t>
            </a:r>
            <a:r>
              <a:rPr sz="1100">
                <a:solidFill>
                  <a:srgbClr val="F0A64A"/>
                </a:solidFill>
                <a:latin typeface="Courier New"/>
              </a:rPr>
              <a:t>new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Scanner</a:t>
            </a:r>
            <a:r>
              <a:rPr sz="1100">
                <a:solidFill>
                  <a:srgbClr val="E6E9ED"/>
                </a:solidFill>
                <a:latin typeface="Courier New"/>
              </a:rPr>
              <a:t>(</a:t>
            </a:r>
            <a:r>
              <a:rPr sz="1100">
                <a:solidFill>
                  <a:srgbClr val="E6E9ED"/>
                </a:solidFill>
                <a:latin typeface="Courier New"/>
              </a:rPr>
              <a:t>System</a:t>
            </a:r>
            <a:r>
              <a:rPr sz="1100">
                <a:solidFill>
                  <a:srgbClr val="E6E9ED"/>
                </a:solidFill>
                <a:latin typeface="Courier New"/>
              </a:rPr>
              <a:t>.</a:t>
            </a:r>
            <a:r>
              <a:rPr sz="1100">
                <a:solidFill>
                  <a:srgbClr val="E6E9ED"/>
                </a:solidFill>
                <a:latin typeface="Courier New"/>
              </a:rPr>
              <a:t>in</a:t>
            </a:r>
            <a:r>
              <a:rPr sz="1100">
                <a:solidFill>
                  <a:srgbClr val="E6E9ED"/>
                </a:solidFill>
                <a:latin typeface="Courier New"/>
              </a:rPr>
              <a:t>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/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F0A64A"/>
                </a:solidFill>
                <a:latin typeface="Courier New"/>
              </a:rPr>
              <a:t>double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issuedPercent</a:t>
            </a:r>
            <a:r>
              <a:rPr sz="1100">
                <a:solidFill>
                  <a:srgbClr val="E6E9ED"/>
                </a:solidFill>
                <a:latin typeface="Courier New"/>
              </a:rPr>
              <a:t> =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 (</a:t>
            </a:r>
            <a:r>
              <a:rPr sz="1100">
                <a:solidFill>
                  <a:srgbClr val="F0A64A"/>
                </a:solidFill>
                <a:latin typeface="Courier New"/>
              </a:rPr>
              <a:t>double</a:t>
            </a:r>
            <a:r>
              <a:rPr sz="1100">
                <a:solidFill>
                  <a:srgbClr val="E6E9ED"/>
                </a:solidFill>
                <a:latin typeface="Courier New"/>
              </a:rPr>
              <a:t>) </a:t>
            </a:r>
            <a:r>
              <a:rPr sz="1100">
                <a:solidFill>
                  <a:srgbClr val="E6E9ED"/>
                </a:solidFill>
                <a:latin typeface="Courier New"/>
              </a:rPr>
              <a:t>issuedCount</a:t>
            </a:r>
            <a:r>
              <a:rPr sz="1100">
                <a:solidFill>
                  <a:srgbClr val="E6E9ED"/>
                </a:solidFill>
                <a:latin typeface="Courier New"/>
              </a:rPr>
              <a:t> / </a:t>
            </a:r>
            <a:r>
              <a:rPr sz="1100">
                <a:solidFill>
                  <a:srgbClr val="E6E9ED"/>
                </a:solidFill>
                <a:latin typeface="Courier New"/>
              </a:rPr>
              <a:t>count</a:t>
            </a:r>
            <a:r>
              <a:rPr sz="1100">
                <a:solidFill>
                  <a:srgbClr val="E6E9ED"/>
                </a:solidFill>
                <a:latin typeface="Courier New"/>
              </a:rPr>
              <a:t> * 100;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/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System</a:t>
            </a:r>
            <a:r>
              <a:rPr sz="1100">
                <a:solidFill>
                  <a:srgbClr val="E6E9ED"/>
                </a:solidFill>
                <a:latin typeface="Courier New"/>
              </a:rPr>
              <a:t>.</a:t>
            </a:r>
            <a:r>
              <a:rPr sz="1100">
                <a:solidFill>
                  <a:srgbClr val="E6E9ED"/>
                </a:solidFill>
                <a:latin typeface="Courier New"/>
              </a:rPr>
              <a:t>out</a:t>
            </a:r>
            <a:r>
              <a:rPr sz="1100">
                <a:solidFill>
                  <a:srgbClr val="E6E9ED"/>
                </a:solidFill>
                <a:latin typeface="Courier New"/>
              </a:rPr>
              <a:t>.</a:t>
            </a:r>
            <a:r>
              <a:rPr sz="1100">
                <a:solidFill>
                  <a:srgbClr val="E6E9ED"/>
                </a:solidFill>
                <a:latin typeface="Courier New"/>
              </a:rPr>
              <a:t>printf</a:t>
            </a:r>
            <a:r>
              <a:rPr sz="1100">
                <a:solidFill>
                  <a:srgbClr val="E6E9ED"/>
                </a:solidFill>
                <a:latin typeface="Courier New"/>
              </a:rPr>
              <a:t>(</a:t>
            </a:r>
            <a:r>
              <a:rPr sz="1100">
                <a:solidFill>
                  <a:srgbClr val="93C99B"/>
                </a:solidFill>
                <a:latin typeface="Courier New"/>
              </a:rPr>
              <a:t>"Items issued : %.1f%%%n"</a:t>
            </a:r>
            <a:r>
              <a:rPr sz="1100">
                <a:solidFill>
                  <a:srgbClr val="E6E9ED"/>
                </a:solidFill>
                <a:latin typeface="Courier New"/>
              </a:rPr>
              <a:t>,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               </a:t>
            </a:r>
            <a:r>
              <a:rPr sz="1100">
                <a:solidFill>
                  <a:srgbClr val="E6E9ED"/>
                </a:solidFill>
                <a:latin typeface="Courier New"/>
              </a:rPr>
              <a:t>issuedPercent</a:t>
            </a:r>
            <a:r>
              <a:rPr sz="1100">
                <a:solidFill>
                  <a:srgbClr val="E6E9ED"/>
                </a:solidFill>
                <a:latin typeface="Courier New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49808"/>
            <a:ext cx="10515600" cy="868680"/>
          </a:xfrm>
        </p:spPr>
        <p:txBody>
          <a:bodyPr wrap="square" anchor="ctr"/>
          <a:lstStyle/>
          <a:p>
            <a:r>
              <a:rPr sz="2800" b="1">
                <a:solidFill>
                  <a:srgbClr val="0E2841"/>
                </a:solidFill>
              </a:rPr>
              <a:t>CO 2  ·  Control Flow: Selection and Iteration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7864-8698-BA0E-D44D-3E693AAB4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783080"/>
            <a:ext cx="5989320" cy="422452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while loop keeps the menu alive until Exit is chosen</a:t>
            </a:r>
            <a:endParaRPr lang="en-IN"/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switch with case, break and default drives the 10-option menu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do-while re-asks until a valid category number is typed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for loop adds several books and traverses the array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break stops the loop early when the library is full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continue skips blank lines while reading the data file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if-else-if ladder handles the three issue / return outcomes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Nested loops build the category-wise report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43E7-AB4E-4C38-9410-6577E2291C02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5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7059168" y="1783080"/>
            <a:ext cx="4297680" cy="4224528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109728" bIns="73152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1000" b="1">
                <a:solidFill>
                  <a:srgbClr val="8D9BAE"/>
                </a:solidFill>
                <a:latin typeface="Courier New"/>
              </a:rPr>
              <a:t>the menu loop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F0A64A"/>
                </a:solidFill>
                <a:latin typeface="Courier New"/>
              </a:rPr>
              <a:t>while</a:t>
            </a:r>
            <a:r>
              <a:rPr sz="1100">
                <a:solidFill>
                  <a:srgbClr val="E6E9ED"/>
                </a:solidFill>
                <a:latin typeface="Courier New"/>
              </a:rPr>
              <a:t> (</a:t>
            </a:r>
            <a:r>
              <a:rPr sz="1100">
                <a:solidFill>
                  <a:srgbClr val="E6E9ED"/>
                </a:solidFill>
                <a:latin typeface="Courier New"/>
              </a:rPr>
              <a:t>running</a:t>
            </a:r>
            <a:r>
              <a:rPr sz="1100">
                <a:solidFill>
                  <a:srgbClr val="E6E9ED"/>
                </a:solidFill>
                <a:latin typeface="Courier New"/>
              </a:rPr>
              <a:t>) {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</a:t>
            </a:r>
            <a:r>
              <a:rPr sz="1100">
                <a:solidFill>
                  <a:srgbClr val="E6E9ED"/>
                </a:solidFill>
                <a:latin typeface="Courier New"/>
              </a:rPr>
              <a:t>displayMenu</a:t>
            </a:r>
            <a:r>
              <a:rPr sz="1100">
                <a:solidFill>
                  <a:srgbClr val="E6E9ED"/>
                </a:solidFill>
                <a:latin typeface="Courier New"/>
              </a:rPr>
              <a:t>();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</a:t>
            </a:r>
            <a:r>
              <a:rPr sz="1100">
                <a:solidFill>
                  <a:srgbClr val="E6E9ED"/>
                </a:solidFill>
                <a:latin typeface="Courier New"/>
              </a:rPr>
              <a:t>choice</a:t>
            </a:r>
            <a:r>
              <a:rPr sz="1100">
                <a:solidFill>
                  <a:srgbClr val="E6E9ED"/>
                </a:solidFill>
                <a:latin typeface="Courier New"/>
              </a:rPr>
              <a:t> = </a:t>
            </a:r>
            <a:r>
              <a:rPr sz="1100">
                <a:solidFill>
                  <a:srgbClr val="E6E9ED"/>
                </a:solidFill>
                <a:latin typeface="Courier New"/>
              </a:rPr>
              <a:t>readInt</a:t>
            </a:r>
            <a:r>
              <a:rPr sz="1100">
                <a:solidFill>
                  <a:srgbClr val="E6E9ED"/>
                </a:solidFill>
                <a:latin typeface="Courier New"/>
              </a:rPr>
              <a:t>(</a:t>
            </a:r>
            <a:r>
              <a:rPr sz="1100">
                <a:solidFill>
                  <a:srgbClr val="93C99B"/>
                </a:solidFill>
                <a:latin typeface="Courier New"/>
              </a:rPr>
              <a:t>"Enter your choice: "</a:t>
            </a:r>
            <a:r>
              <a:rPr sz="1100">
                <a:solidFill>
                  <a:srgbClr val="E6E9ED"/>
                </a:solidFill>
                <a:latin typeface="Courier New"/>
              </a:rPr>
              <a:t>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</a:t>
            </a:r>
            <a:r>
              <a:rPr sz="1100">
                <a:solidFill>
                  <a:srgbClr val="F0A64A"/>
                </a:solidFill>
                <a:latin typeface="Courier New"/>
              </a:rPr>
              <a:t>switch</a:t>
            </a:r>
            <a:r>
              <a:rPr sz="1100">
                <a:solidFill>
                  <a:srgbClr val="E6E9ED"/>
                </a:solidFill>
                <a:latin typeface="Courier New"/>
              </a:rPr>
              <a:t> (</a:t>
            </a:r>
            <a:r>
              <a:rPr sz="1100">
                <a:solidFill>
                  <a:srgbClr val="E6E9ED"/>
                </a:solidFill>
                <a:latin typeface="Courier New"/>
              </a:rPr>
              <a:t>choice</a:t>
            </a:r>
            <a:r>
              <a:rPr sz="1100">
                <a:solidFill>
                  <a:srgbClr val="E6E9ED"/>
                </a:solidFill>
                <a:latin typeface="Courier New"/>
              </a:rPr>
              <a:t>) {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 </a:t>
            </a:r>
            <a:r>
              <a:rPr sz="1100">
                <a:solidFill>
                  <a:srgbClr val="F0A64A"/>
                </a:solidFill>
                <a:latin typeface="Courier New"/>
              </a:rPr>
              <a:t>case</a:t>
            </a:r>
            <a:r>
              <a:rPr sz="1100">
                <a:solidFill>
                  <a:srgbClr val="E6E9ED"/>
                </a:solidFill>
                <a:latin typeface="Courier New"/>
              </a:rPr>
              <a:t> 1:  </a:t>
            </a:r>
            <a:r>
              <a:rPr sz="1100">
                <a:solidFill>
                  <a:srgbClr val="E6E9ED"/>
                </a:solidFill>
                <a:latin typeface="Courier New"/>
              </a:rPr>
              <a:t>addBooks</a:t>
            </a:r>
            <a:r>
              <a:rPr sz="1100">
                <a:solidFill>
                  <a:srgbClr val="E6E9ED"/>
                </a:solidFill>
                <a:latin typeface="Courier New"/>
              </a:rPr>
              <a:t>();      </a:t>
            </a:r>
            <a:r>
              <a:rPr sz="1100">
                <a:solidFill>
                  <a:srgbClr val="F0A64A"/>
                </a:solidFill>
                <a:latin typeface="Courier New"/>
              </a:rPr>
              <a:t>break</a:t>
            </a:r>
            <a:r>
              <a:rPr sz="1100">
                <a:solidFill>
                  <a:srgbClr val="E6E9ED"/>
                </a:solidFill>
                <a:latin typeface="Courier New"/>
              </a:rPr>
              <a:t>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 </a:t>
            </a:r>
            <a:r>
              <a:rPr sz="1100">
                <a:solidFill>
                  <a:srgbClr val="F0A64A"/>
                </a:solidFill>
                <a:latin typeface="Courier New"/>
              </a:rPr>
              <a:t>case</a:t>
            </a:r>
            <a:r>
              <a:rPr sz="1100">
                <a:solidFill>
                  <a:srgbClr val="E6E9ED"/>
                </a:solidFill>
                <a:latin typeface="Courier New"/>
              </a:rPr>
              <a:t> 9:  </a:t>
            </a:r>
            <a:r>
              <a:rPr sz="1100">
                <a:solidFill>
                  <a:srgbClr val="E6E9ED"/>
                </a:solidFill>
                <a:latin typeface="Courier New"/>
              </a:rPr>
              <a:t>smartReports</a:t>
            </a:r>
            <a:r>
              <a:rPr sz="1100">
                <a:solidFill>
                  <a:srgbClr val="E6E9ED"/>
                </a:solidFill>
                <a:latin typeface="Courier New"/>
              </a:rPr>
              <a:t>();  </a:t>
            </a:r>
            <a:r>
              <a:rPr sz="1100">
                <a:solidFill>
                  <a:srgbClr val="F0A64A"/>
                </a:solidFill>
                <a:latin typeface="Courier New"/>
              </a:rPr>
              <a:t>break</a:t>
            </a:r>
            <a:r>
              <a:rPr sz="1100">
                <a:solidFill>
                  <a:srgbClr val="E6E9ED"/>
                </a:solidFill>
                <a:latin typeface="Courier New"/>
              </a:rPr>
              <a:t>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 </a:t>
            </a:r>
            <a:r>
              <a:rPr sz="1100">
                <a:solidFill>
                  <a:srgbClr val="F0A64A"/>
                </a:solidFill>
                <a:latin typeface="Courier New"/>
              </a:rPr>
              <a:t>case</a:t>
            </a:r>
            <a:r>
              <a:rPr sz="1100">
                <a:solidFill>
                  <a:srgbClr val="E6E9ED"/>
                </a:solidFill>
                <a:latin typeface="Courier New"/>
              </a:rPr>
              <a:t> 10: </a:t>
            </a:r>
            <a:r>
              <a:rPr sz="1100">
                <a:solidFill>
                  <a:srgbClr val="E6E9ED"/>
                </a:solidFill>
                <a:latin typeface="Courier New"/>
              </a:rPr>
              <a:t>running</a:t>
            </a:r>
            <a:r>
              <a:rPr sz="1100">
                <a:solidFill>
                  <a:srgbClr val="E6E9ED"/>
                </a:solidFill>
                <a:latin typeface="Courier New"/>
              </a:rPr>
              <a:t> = </a:t>
            </a:r>
            <a:r>
              <a:rPr sz="1100">
                <a:solidFill>
                  <a:srgbClr val="E6E9ED"/>
                </a:solidFill>
                <a:latin typeface="Courier New"/>
              </a:rPr>
              <a:t>false</a:t>
            </a:r>
            <a:r>
              <a:rPr sz="1100">
                <a:solidFill>
                  <a:srgbClr val="E6E9ED"/>
                </a:solidFill>
                <a:latin typeface="Courier New"/>
              </a:rPr>
              <a:t>; </a:t>
            </a:r>
            <a:r>
              <a:rPr sz="1100">
                <a:solidFill>
                  <a:srgbClr val="F0A64A"/>
                </a:solidFill>
                <a:latin typeface="Courier New"/>
              </a:rPr>
              <a:t>break</a:t>
            </a:r>
            <a:r>
              <a:rPr sz="1100">
                <a:solidFill>
                  <a:srgbClr val="E6E9ED"/>
                </a:solidFill>
                <a:latin typeface="Courier New"/>
              </a:rPr>
              <a:t>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 </a:t>
            </a:r>
            <a:r>
              <a:rPr sz="1100">
                <a:solidFill>
                  <a:srgbClr val="F0A64A"/>
                </a:solidFill>
                <a:latin typeface="Courier New"/>
              </a:rPr>
              <a:t>default</a:t>
            </a:r>
            <a:r>
              <a:rPr sz="1100">
                <a:solidFill>
                  <a:srgbClr val="E6E9ED"/>
                </a:solidFill>
                <a:latin typeface="Courier New"/>
              </a:rPr>
              <a:t>: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   </a:t>
            </a:r>
            <a:r>
              <a:rPr sz="1100">
                <a:solidFill>
                  <a:srgbClr val="E6E9ED"/>
                </a:solidFill>
                <a:latin typeface="Courier New"/>
              </a:rPr>
              <a:t>System</a:t>
            </a:r>
            <a:r>
              <a:rPr sz="1100">
                <a:solidFill>
                  <a:srgbClr val="E6E9ED"/>
                </a:solidFill>
                <a:latin typeface="Courier New"/>
              </a:rPr>
              <a:t>.</a:t>
            </a:r>
            <a:r>
              <a:rPr sz="1100">
                <a:solidFill>
                  <a:srgbClr val="E6E9ED"/>
                </a:solidFill>
                <a:latin typeface="Courier New"/>
              </a:rPr>
              <a:t>out</a:t>
            </a:r>
            <a:r>
              <a:rPr sz="1100">
                <a:solidFill>
                  <a:srgbClr val="E6E9ED"/>
                </a:solidFill>
                <a:latin typeface="Courier New"/>
              </a:rPr>
              <a:t>.</a:t>
            </a:r>
            <a:r>
              <a:rPr sz="1100">
                <a:solidFill>
                  <a:srgbClr val="E6E9ED"/>
                </a:solidFill>
                <a:latin typeface="Courier New"/>
              </a:rPr>
              <a:t>println</a:t>
            </a:r>
            <a:r>
              <a:rPr sz="1100">
                <a:solidFill>
                  <a:srgbClr val="E6E9ED"/>
                </a:solidFill>
                <a:latin typeface="Courier New"/>
              </a:rPr>
              <a:t>(</a:t>
            </a:r>
            <a:r>
              <a:rPr sz="1100">
                <a:solidFill>
                  <a:srgbClr val="93C99B"/>
                </a:solidFill>
                <a:latin typeface="Courier New"/>
              </a:rPr>
              <a:t>"Invalid choice!"</a:t>
            </a:r>
            <a:r>
              <a:rPr sz="1100">
                <a:solidFill>
                  <a:srgbClr val="E6E9ED"/>
                </a:solidFill>
                <a:latin typeface="Courier New"/>
              </a:rPr>
              <a:t>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}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49808"/>
            <a:ext cx="10515600" cy="868680"/>
          </a:xfrm>
        </p:spPr>
        <p:txBody>
          <a:bodyPr wrap="square" anchor="ctr"/>
          <a:lstStyle/>
          <a:p>
            <a:r>
              <a:rPr sz="2800" b="1">
                <a:solidFill>
                  <a:srgbClr val="0E2841"/>
                </a:solidFill>
              </a:rPr>
              <a:t>CO 3  ·  Methods, Recursion and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ACD64-BF58-761A-504E-C381351EE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783080"/>
            <a:ext cx="5989320" cy="422452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One method per feature keeps main() short and readable</a:t>
            </a:r>
            <a:endParaRPr lang="en-IN"/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Parameters carry data in; return values carry results out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Method overloading: findBook(int) and findBook(String)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1-D array Book[ ] books holds up to 50 objects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Array traversal prints the whole catalogue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Linear search locates a book by its ID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Counting, summation and average build the statistics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2-D array int[4][2] stores category × status counts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Recursion is not used — every task here suits a loop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71FF-0CE0-4D83-9933-F69CED863D80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7059168" y="1783080"/>
            <a:ext cx="4297680" cy="4224528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109728" bIns="73152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1000" b="1">
                <a:solidFill>
                  <a:srgbClr val="8D9BAE"/>
                </a:solidFill>
                <a:latin typeface="Courier New"/>
              </a:rPr>
              <a:t>linear search with overloading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F0A64A"/>
                </a:solidFill>
                <a:latin typeface="Courier New"/>
              </a:rPr>
              <a:t>static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Book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findBook</a:t>
            </a:r>
            <a:r>
              <a:rPr sz="1100">
                <a:solidFill>
                  <a:srgbClr val="E6E9ED"/>
                </a:solidFill>
                <a:latin typeface="Courier New"/>
              </a:rPr>
              <a:t>(</a:t>
            </a:r>
            <a:r>
              <a:rPr sz="1100">
                <a:solidFill>
                  <a:srgbClr val="F0A64A"/>
                </a:solidFill>
                <a:latin typeface="Courier New"/>
              </a:rPr>
              <a:t>int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id</a:t>
            </a:r>
            <a:r>
              <a:rPr sz="1100">
                <a:solidFill>
                  <a:srgbClr val="E6E9ED"/>
                </a:solidFill>
                <a:latin typeface="Courier New"/>
              </a:rPr>
              <a:t>)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    </a:t>
            </a:r>
            <a:r>
              <a:rPr sz="1100">
                <a:solidFill>
                  <a:srgbClr val="F0A64A"/>
                </a:solidFill>
                <a:latin typeface="Courier New"/>
              </a:rPr>
              <a:t>throws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BookNotFoundException</a:t>
            </a:r>
            <a:r>
              <a:rPr sz="1100">
                <a:solidFill>
                  <a:srgbClr val="E6E9ED"/>
                </a:solidFill>
                <a:latin typeface="Courier New"/>
              </a:rPr>
              <a:t> {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</a:t>
            </a:r>
            <a:r>
              <a:rPr sz="1100">
                <a:solidFill>
                  <a:srgbClr val="F0A64A"/>
                </a:solidFill>
                <a:latin typeface="Courier New"/>
              </a:rPr>
              <a:t>for</a:t>
            </a:r>
            <a:r>
              <a:rPr sz="1100">
                <a:solidFill>
                  <a:srgbClr val="E6E9ED"/>
                </a:solidFill>
                <a:latin typeface="Courier New"/>
              </a:rPr>
              <a:t> (</a:t>
            </a:r>
            <a:r>
              <a:rPr sz="1100">
                <a:solidFill>
                  <a:srgbClr val="F0A64A"/>
                </a:solidFill>
                <a:latin typeface="Courier New"/>
              </a:rPr>
              <a:t>int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i</a:t>
            </a:r>
            <a:r>
              <a:rPr sz="1100">
                <a:solidFill>
                  <a:srgbClr val="E6E9ED"/>
                </a:solidFill>
                <a:latin typeface="Courier New"/>
              </a:rPr>
              <a:t> = 0; </a:t>
            </a:r>
            <a:r>
              <a:rPr sz="1100">
                <a:solidFill>
                  <a:srgbClr val="E6E9ED"/>
                </a:solidFill>
                <a:latin typeface="Courier New"/>
              </a:rPr>
              <a:t>i</a:t>
            </a:r>
            <a:r>
              <a:rPr sz="1100">
                <a:solidFill>
                  <a:srgbClr val="E6E9ED"/>
                </a:solidFill>
                <a:latin typeface="Courier New"/>
              </a:rPr>
              <a:t> &lt; </a:t>
            </a:r>
            <a:r>
              <a:rPr sz="1100">
                <a:solidFill>
                  <a:srgbClr val="E6E9ED"/>
                </a:solidFill>
                <a:latin typeface="Courier New"/>
              </a:rPr>
              <a:t>count</a:t>
            </a:r>
            <a:r>
              <a:rPr sz="1100">
                <a:solidFill>
                  <a:srgbClr val="E6E9ED"/>
                </a:solidFill>
                <a:latin typeface="Courier New"/>
              </a:rPr>
              <a:t>; </a:t>
            </a:r>
            <a:r>
              <a:rPr sz="1100">
                <a:solidFill>
                  <a:srgbClr val="E6E9ED"/>
                </a:solidFill>
                <a:latin typeface="Courier New"/>
              </a:rPr>
              <a:t>i</a:t>
            </a:r>
            <a:r>
              <a:rPr sz="1100">
                <a:solidFill>
                  <a:srgbClr val="E6E9ED"/>
                </a:solidFill>
                <a:latin typeface="Courier New"/>
              </a:rPr>
              <a:t>++) {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 </a:t>
            </a:r>
            <a:r>
              <a:rPr sz="1100">
                <a:solidFill>
                  <a:srgbClr val="F0A64A"/>
                </a:solidFill>
                <a:latin typeface="Courier New"/>
              </a:rPr>
              <a:t>if</a:t>
            </a:r>
            <a:r>
              <a:rPr sz="1100">
                <a:solidFill>
                  <a:srgbClr val="E6E9ED"/>
                </a:solidFill>
                <a:latin typeface="Courier New"/>
              </a:rPr>
              <a:t> (</a:t>
            </a:r>
            <a:r>
              <a:rPr sz="1100">
                <a:solidFill>
                  <a:srgbClr val="E6E9ED"/>
                </a:solidFill>
                <a:latin typeface="Courier New"/>
              </a:rPr>
              <a:t>books</a:t>
            </a:r>
            <a:r>
              <a:rPr sz="1100">
                <a:solidFill>
                  <a:srgbClr val="E6E9ED"/>
                </a:solidFill>
                <a:latin typeface="Courier New"/>
              </a:rPr>
              <a:t>[</a:t>
            </a:r>
            <a:r>
              <a:rPr sz="1100">
                <a:solidFill>
                  <a:srgbClr val="E6E9ED"/>
                </a:solidFill>
                <a:latin typeface="Courier New"/>
              </a:rPr>
              <a:t>i</a:t>
            </a:r>
            <a:r>
              <a:rPr sz="1100">
                <a:solidFill>
                  <a:srgbClr val="E6E9ED"/>
                </a:solidFill>
                <a:latin typeface="Courier New"/>
              </a:rPr>
              <a:t>].</a:t>
            </a:r>
            <a:r>
              <a:rPr sz="1100">
                <a:solidFill>
                  <a:srgbClr val="E6E9ED"/>
                </a:solidFill>
                <a:latin typeface="Courier New"/>
              </a:rPr>
              <a:t>getId</a:t>
            </a:r>
            <a:r>
              <a:rPr sz="1100">
                <a:solidFill>
                  <a:srgbClr val="E6E9ED"/>
                </a:solidFill>
                <a:latin typeface="Courier New"/>
              </a:rPr>
              <a:t>() == </a:t>
            </a:r>
            <a:r>
              <a:rPr sz="1100">
                <a:solidFill>
                  <a:srgbClr val="E6E9ED"/>
                </a:solidFill>
                <a:latin typeface="Courier New"/>
              </a:rPr>
              <a:t>id</a:t>
            </a:r>
            <a:r>
              <a:rPr sz="1100">
                <a:solidFill>
                  <a:srgbClr val="E6E9ED"/>
                </a:solidFill>
                <a:latin typeface="Courier New"/>
              </a:rPr>
              <a:t>) {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   </a:t>
            </a:r>
            <a:r>
              <a:rPr sz="1100">
                <a:solidFill>
                  <a:srgbClr val="F0A64A"/>
                </a:solidFill>
                <a:latin typeface="Courier New"/>
              </a:rPr>
              <a:t>return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books</a:t>
            </a:r>
            <a:r>
              <a:rPr sz="1100">
                <a:solidFill>
                  <a:srgbClr val="E6E9ED"/>
                </a:solidFill>
                <a:latin typeface="Courier New"/>
              </a:rPr>
              <a:t>[</a:t>
            </a:r>
            <a:r>
              <a:rPr sz="1100">
                <a:solidFill>
                  <a:srgbClr val="E6E9ED"/>
                </a:solidFill>
                <a:latin typeface="Courier New"/>
              </a:rPr>
              <a:t>i</a:t>
            </a:r>
            <a:r>
              <a:rPr sz="1100">
                <a:solidFill>
                  <a:srgbClr val="E6E9ED"/>
                </a:solidFill>
                <a:latin typeface="Courier New"/>
              </a:rPr>
              <a:t>];        </a:t>
            </a:r>
            <a:r>
              <a:rPr sz="1100">
                <a:solidFill>
                  <a:srgbClr val="8D9BAE"/>
                </a:solidFill>
                <a:latin typeface="Courier New"/>
              </a:rPr>
              <a:t>// found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 }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}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</a:t>
            </a:r>
            <a:r>
              <a:rPr sz="1100">
                <a:solidFill>
                  <a:srgbClr val="F0A64A"/>
                </a:solidFill>
                <a:latin typeface="Courier New"/>
              </a:rPr>
              <a:t>throw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F0A64A"/>
                </a:solidFill>
                <a:latin typeface="Courier New"/>
              </a:rPr>
              <a:t>new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BookNotFoundException</a:t>
            </a:r>
            <a:r>
              <a:rPr sz="1100">
                <a:solidFill>
                  <a:srgbClr val="E6E9ED"/>
                </a:solidFill>
                <a:latin typeface="Courier New"/>
              </a:rPr>
              <a:t>(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   </a:t>
            </a:r>
            <a:r>
              <a:rPr sz="1100">
                <a:solidFill>
                  <a:srgbClr val="93C99B"/>
                </a:solidFill>
                <a:latin typeface="Courier New"/>
              </a:rPr>
              <a:t>"No book found with ID "</a:t>
            </a:r>
            <a:r>
              <a:rPr sz="1100">
                <a:solidFill>
                  <a:srgbClr val="E6E9ED"/>
                </a:solidFill>
                <a:latin typeface="Courier New"/>
              </a:rPr>
              <a:t> + </a:t>
            </a:r>
            <a:r>
              <a:rPr sz="1100">
                <a:solidFill>
                  <a:srgbClr val="E6E9ED"/>
                </a:solidFill>
                <a:latin typeface="Courier New"/>
              </a:rPr>
              <a:t>id</a:t>
            </a:r>
            <a:r>
              <a:rPr sz="1100">
                <a:solidFill>
                  <a:srgbClr val="E6E9ED"/>
                </a:solidFill>
                <a:latin typeface="Courier New"/>
              </a:rPr>
              <a:t> + </a:t>
            </a:r>
            <a:r>
              <a:rPr sz="1100">
                <a:solidFill>
                  <a:srgbClr val="93C99B"/>
                </a:solidFill>
                <a:latin typeface="Courier New"/>
              </a:rPr>
              <a:t>"."</a:t>
            </a:r>
            <a:r>
              <a:rPr sz="1100">
                <a:solidFill>
                  <a:srgbClr val="E6E9ED"/>
                </a:solidFill>
                <a:latin typeface="Courier New"/>
              </a:rPr>
              <a:t>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49808"/>
            <a:ext cx="10515600" cy="868680"/>
          </a:xfrm>
        </p:spPr>
        <p:txBody>
          <a:bodyPr wrap="square" anchor="ctr"/>
          <a:lstStyle/>
          <a:p>
            <a:r>
              <a:rPr sz="2800" b="1">
                <a:solidFill>
                  <a:srgbClr val="0E2841"/>
                </a:solidFill>
              </a:rPr>
              <a:t>CO 4  ·  OOP Modelling, Design and 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763C4-B644-2CBF-4AE1-87632858C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783080"/>
            <a:ext cx="5989320" cy="422452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class Book is the blueprint; new creates each object</a:t>
            </a:r>
            <a:endParaRPr lang="en-IN"/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private fields give encapsulation and information hiding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Accessors and mutators validate the title and author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Parameterized constructors plus constructor overloading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this separates a field from a parameter of the same name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static members: totalBooksCreated, MAX_BOOKS constant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toString() overridden so printing gives a table row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Borrowable interface — programming to an interface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try-catch-finally, multi-catch, throw and throws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7059168" y="1783080"/>
            <a:ext cx="4297680" cy="4224528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109728" bIns="73152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1000" b="1">
                <a:solidFill>
                  <a:srgbClr val="8D9BAE"/>
                </a:solidFill>
                <a:latin typeface="Courier New"/>
              </a:rPr>
              <a:t>class, interface and overriding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F0A64A"/>
                </a:solidFill>
                <a:latin typeface="Courier New"/>
              </a:rPr>
              <a:t>class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Book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F0A64A"/>
                </a:solidFill>
                <a:latin typeface="Courier New"/>
              </a:rPr>
              <a:t>implements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Borrowable</a:t>
            </a:r>
            <a:r>
              <a:rPr sz="1100">
                <a:solidFill>
                  <a:srgbClr val="E6E9ED"/>
                </a:solidFill>
                <a:latin typeface="Courier New"/>
              </a:rPr>
              <a:t>,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                   </a:t>
            </a:r>
            <a:r>
              <a:rPr sz="1100">
                <a:solidFill>
                  <a:srgbClr val="E6E9ED"/>
                </a:solidFill>
                <a:latin typeface="Courier New"/>
              </a:rPr>
              <a:t>Comparable</a:t>
            </a:r>
            <a:r>
              <a:rPr sz="1100">
                <a:solidFill>
                  <a:srgbClr val="E6E9ED"/>
                </a:solidFill>
                <a:latin typeface="Courier New"/>
              </a:rPr>
              <a:t>&lt;</a:t>
            </a:r>
            <a:r>
              <a:rPr sz="1100">
                <a:solidFill>
                  <a:srgbClr val="E6E9ED"/>
                </a:solidFill>
                <a:latin typeface="Courier New"/>
              </a:rPr>
              <a:t>Book</a:t>
            </a:r>
            <a:r>
              <a:rPr sz="1100">
                <a:solidFill>
                  <a:srgbClr val="E6E9ED"/>
                </a:solidFill>
                <a:latin typeface="Courier New"/>
              </a:rPr>
              <a:t>&gt; {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</a:t>
            </a:r>
            <a:r>
              <a:rPr sz="1100">
                <a:solidFill>
                  <a:srgbClr val="F0A64A"/>
                </a:solidFill>
                <a:latin typeface="Courier New"/>
              </a:rPr>
              <a:t>private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F0A64A"/>
                </a:solidFill>
                <a:latin typeface="Courier New"/>
              </a:rPr>
              <a:t>int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id</a:t>
            </a:r>
            <a:r>
              <a:rPr sz="1100">
                <a:solidFill>
                  <a:srgbClr val="E6E9ED"/>
                </a:solidFill>
                <a:latin typeface="Courier New"/>
              </a:rPr>
              <a:t>;         </a:t>
            </a:r>
            <a:r>
              <a:rPr sz="1100">
                <a:solidFill>
                  <a:srgbClr val="8D9BAE"/>
                </a:solidFill>
                <a:latin typeface="Courier New"/>
              </a:rPr>
              <a:t>// encapsulation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</a:t>
            </a:r>
            <a:r>
              <a:rPr sz="1100">
                <a:solidFill>
                  <a:srgbClr val="F0A64A"/>
                </a:solidFill>
                <a:latin typeface="Courier New"/>
              </a:rPr>
              <a:t>private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F0A64A"/>
                </a:solidFill>
                <a:latin typeface="Courier New"/>
              </a:rPr>
              <a:t>boolean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issued</a:t>
            </a:r>
            <a:r>
              <a:rPr sz="1100">
                <a:solidFill>
                  <a:srgbClr val="E6E9ED"/>
                </a:solidFill>
                <a:latin typeface="Courier New"/>
              </a:rPr>
              <a:t>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/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</a:t>
            </a:r>
            <a:r>
              <a:rPr sz="1100">
                <a:solidFill>
                  <a:srgbClr val="F0A64A"/>
                </a:solidFill>
                <a:latin typeface="Courier New"/>
              </a:rPr>
              <a:t>public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F0A64A"/>
                </a:solidFill>
                <a:latin typeface="Courier New"/>
              </a:rPr>
              <a:t>void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issue</a:t>
            </a:r>
            <a:r>
              <a:rPr sz="1100">
                <a:solidFill>
                  <a:srgbClr val="E6E9ED"/>
                </a:solidFill>
                <a:latin typeface="Courier New"/>
              </a:rPr>
              <a:t>() { </a:t>
            </a:r>
            <a:r>
              <a:rPr sz="1100">
                <a:solidFill>
                  <a:srgbClr val="E6E9ED"/>
                </a:solidFill>
                <a:latin typeface="Courier New"/>
              </a:rPr>
              <a:t>issued</a:t>
            </a:r>
            <a:r>
              <a:rPr sz="1100">
                <a:solidFill>
                  <a:srgbClr val="E6E9ED"/>
                </a:solidFill>
                <a:latin typeface="Courier New"/>
              </a:rPr>
              <a:t> = </a:t>
            </a:r>
            <a:r>
              <a:rPr sz="1100">
                <a:solidFill>
                  <a:srgbClr val="E6E9ED"/>
                </a:solidFill>
                <a:latin typeface="Courier New"/>
              </a:rPr>
              <a:t>true</a:t>
            </a:r>
            <a:r>
              <a:rPr sz="1100">
                <a:solidFill>
                  <a:srgbClr val="E6E9ED"/>
                </a:solidFill>
                <a:latin typeface="Courier New"/>
              </a:rPr>
              <a:t>; }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/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</a:t>
            </a:r>
            <a:r>
              <a:rPr sz="1100">
                <a:solidFill>
                  <a:srgbClr val="F0A64A"/>
                </a:solidFill>
                <a:latin typeface="Courier New"/>
              </a:rPr>
              <a:t>public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F0A64A"/>
                </a:solidFill>
                <a:latin typeface="Courier New"/>
              </a:rPr>
              <a:t>String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toString</a:t>
            </a:r>
            <a:r>
              <a:rPr sz="1100">
                <a:solidFill>
                  <a:srgbClr val="E6E9ED"/>
                </a:solidFill>
                <a:latin typeface="Courier New"/>
              </a:rPr>
              <a:t>() {   </a:t>
            </a:r>
            <a:r>
              <a:rPr sz="1100">
                <a:solidFill>
                  <a:srgbClr val="8D9BAE"/>
                </a:solidFill>
                <a:latin typeface="Courier New"/>
              </a:rPr>
              <a:t>// overridden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 </a:t>
            </a:r>
            <a:r>
              <a:rPr sz="1100">
                <a:solidFill>
                  <a:srgbClr val="F0A64A"/>
                </a:solidFill>
                <a:latin typeface="Courier New"/>
              </a:rPr>
              <a:t>return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F0A64A"/>
                </a:solidFill>
                <a:latin typeface="Courier New"/>
              </a:rPr>
              <a:t>String</a:t>
            </a:r>
            <a:r>
              <a:rPr sz="1100">
                <a:solidFill>
                  <a:srgbClr val="E6E9ED"/>
                </a:solidFill>
                <a:latin typeface="Courier New"/>
              </a:rPr>
              <a:t>.</a:t>
            </a:r>
            <a:r>
              <a:rPr sz="1100">
                <a:solidFill>
                  <a:srgbClr val="E6E9ED"/>
                </a:solidFill>
                <a:latin typeface="Courier New"/>
              </a:rPr>
              <a:t>format</a:t>
            </a:r>
            <a:r>
              <a:rPr sz="1100">
                <a:solidFill>
                  <a:srgbClr val="E6E9ED"/>
                </a:solidFill>
                <a:latin typeface="Courier New"/>
              </a:rPr>
              <a:t>(</a:t>
            </a:r>
            <a:r>
              <a:rPr sz="1100">
                <a:solidFill>
                  <a:srgbClr val="93C99B"/>
                </a:solidFill>
                <a:latin typeface="Courier New"/>
              </a:rPr>
              <a:t>"%-6d %-26s"</a:t>
            </a:r>
            <a:r>
              <a:rPr sz="1100">
                <a:solidFill>
                  <a:srgbClr val="E6E9ED"/>
                </a:solidFill>
                <a:latin typeface="Courier New"/>
              </a:rPr>
              <a:t>,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                      </a:t>
            </a:r>
            <a:r>
              <a:rPr sz="1100">
                <a:solidFill>
                  <a:srgbClr val="E6E9ED"/>
                </a:solidFill>
                <a:latin typeface="Courier New"/>
              </a:rPr>
              <a:t>id</a:t>
            </a:r>
            <a:r>
              <a:rPr sz="1100">
                <a:solidFill>
                  <a:srgbClr val="E6E9ED"/>
                </a:solidFill>
                <a:latin typeface="Courier New"/>
              </a:rPr>
              <a:t>, </a:t>
            </a:r>
            <a:r>
              <a:rPr sz="1100">
                <a:solidFill>
                  <a:srgbClr val="E6E9ED"/>
                </a:solidFill>
                <a:latin typeface="Courier New"/>
              </a:rPr>
              <a:t>title</a:t>
            </a:r>
            <a:r>
              <a:rPr sz="1100">
                <a:solidFill>
                  <a:srgbClr val="E6E9ED"/>
                </a:solidFill>
                <a:latin typeface="Courier New"/>
              </a:rPr>
              <a:t>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}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49808"/>
            <a:ext cx="10515600" cy="868680"/>
          </a:xfrm>
        </p:spPr>
        <p:txBody>
          <a:bodyPr wrap="square" anchor="ctr"/>
          <a:lstStyle/>
          <a:p>
            <a:r>
              <a:rPr sz="2800" b="1">
                <a:solidFill>
                  <a:srgbClr val="0E2841"/>
                </a:solidFill>
              </a:rPr>
              <a:t>CO 5  ·  Strings, Library Algorithms and File I/O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2B8C9-B5A8-6FD1-7D16-20BF4FBD7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783080"/>
            <a:ext cx="5989320" cy="422452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String immutability; equals() and equalsIgnoreCase(), never ==</a:t>
            </a:r>
            <a:endParaRPr lang="en-IN"/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trim(), isEmpty(), length() and substring() for validation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toLowerCase() with contains() gives partial-title search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split(",") tokenizes each saved record into fields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StringBuilder assembles the category report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Comparable sorts by ID; Comparator sorts by title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Arrays.sort() and Arrays.binarySearch() on the ID list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File, FileWriter and Scanner(file) read and write library.txt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try-with-resources; missing files and bad records handled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8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7059168" y="1783080"/>
            <a:ext cx="4297680" cy="4224528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109728" bIns="73152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1000" b="1">
                <a:solidFill>
                  <a:srgbClr val="8D9BAE"/>
                </a:solidFill>
                <a:latin typeface="Courier New"/>
              </a:rPr>
              <a:t>tokenizing a saved record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F0A64A"/>
                </a:solidFill>
                <a:latin typeface="Courier New"/>
              </a:rPr>
              <a:t>String</a:t>
            </a:r>
            <a:r>
              <a:rPr sz="1100">
                <a:solidFill>
                  <a:srgbClr val="E6E9ED"/>
                </a:solidFill>
                <a:latin typeface="Courier New"/>
              </a:rPr>
              <a:t>[] </a:t>
            </a:r>
            <a:r>
              <a:rPr sz="1100">
                <a:solidFill>
                  <a:srgbClr val="E6E9ED"/>
                </a:solidFill>
                <a:latin typeface="Courier New"/>
              </a:rPr>
              <a:t>parts</a:t>
            </a:r>
            <a:r>
              <a:rPr sz="1100">
                <a:solidFill>
                  <a:srgbClr val="E6E9ED"/>
                </a:solidFill>
                <a:latin typeface="Courier New"/>
              </a:rPr>
              <a:t> = </a:t>
            </a:r>
            <a:r>
              <a:rPr sz="1100">
                <a:solidFill>
                  <a:srgbClr val="E6E9ED"/>
                </a:solidFill>
                <a:latin typeface="Courier New"/>
              </a:rPr>
              <a:t>line</a:t>
            </a:r>
            <a:r>
              <a:rPr sz="1100">
                <a:solidFill>
                  <a:srgbClr val="E6E9ED"/>
                </a:solidFill>
                <a:latin typeface="Courier New"/>
              </a:rPr>
              <a:t>.</a:t>
            </a:r>
            <a:r>
              <a:rPr sz="1100">
                <a:solidFill>
                  <a:srgbClr val="E6E9ED"/>
                </a:solidFill>
                <a:latin typeface="Courier New"/>
              </a:rPr>
              <a:t>split</a:t>
            </a:r>
            <a:r>
              <a:rPr sz="1100">
                <a:solidFill>
                  <a:srgbClr val="E6E9ED"/>
                </a:solidFill>
                <a:latin typeface="Courier New"/>
              </a:rPr>
              <a:t>(</a:t>
            </a:r>
            <a:r>
              <a:rPr sz="1100">
                <a:solidFill>
                  <a:srgbClr val="93C99B"/>
                </a:solidFill>
                <a:latin typeface="Courier New"/>
              </a:rPr>
              <a:t>","</a:t>
            </a:r>
            <a:r>
              <a:rPr sz="1100">
                <a:solidFill>
                  <a:srgbClr val="E6E9ED"/>
                </a:solidFill>
                <a:latin typeface="Courier New"/>
              </a:rPr>
              <a:t>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F0A64A"/>
                </a:solidFill>
                <a:latin typeface="Courier New"/>
              </a:rPr>
              <a:t>if</a:t>
            </a:r>
            <a:r>
              <a:rPr sz="1100">
                <a:solidFill>
                  <a:srgbClr val="E6E9ED"/>
                </a:solidFill>
                <a:latin typeface="Courier New"/>
              </a:rPr>
              <a:t> (</a:t>
            </a:r>
            <a:r>
              <a:rPr sz="1100">
                <a:solidFill>
                  <a:srgbClr val="E6E9ED"/>
                </a:solidFill>
                <a:latin typeface="Courier New"/>
              </a:rPr>
              <a:t>parts</a:t>
            </a:r>
            <a:r>
              <a:rPr sz="1100">
                <a:solidFill>
                  <a:srgbClr val="E6E9ED"/>
                </a:solidFill>
                <a:latin typeface="Courier New"/>
              </a:rPr>
              <a:t>.</a:t>
            </a:r>
            <a:r>
              <a:rPr sz="1100">
                <a:solidFill>
                  <a:srgbClr val="E6E9ED"/>
                </a:solidFill>
                <a:latin typeface="Courier New"/>
              </a:rPr>
              <a:t>length</a:t>
            </a:r>
            <a:r>
              <a:rPr sz="1100">
                <a:solidFill>
                  <a:srgbClr val="E6E9ED"/>
                </a:solidFill>
                <a:latin typeface="Courier New"/>
              </a:rPr>
              <a:t> &lt; 5) {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</a:t>
            </a:r>
            <a:r>
              <a:rPr sz="1100">
                <a:solidFill>
                  <a:srgbClr val="E6E9ED"/>
                </a:solidFill>
                <a:latin typeface="Courier New"/>
              </a:rPr>
              <a:t>System</a:t>
            </a:r>
            <a:r>
              <a:rPr sz="1100">
                <a:solidFill>
                  <a:srgbClr val="E6E9ED"/>
                </a:solidFill>
                <a:latin typeface="Courier New"/>
              </a:rPr>
              <a:t>.</a:t>
            </a:r>
            <a:r>
              <a:rPr sz="1100">
                <a:solidFill>
                  <a:srgbClr val="E6E9ED"/>
                </a:solidFill>
                <a:latin typeface="Courier New"/>
              </a:rPr>
              <a:t>out</a:t>
            </a:r>
            <a:r>
              <a:rPr sz="1100">
                <a:solidFill>
                  <a:srgbClr val="E6E9ED"/>
                </a:solidFill>
                <a:latin typeface="Courier New"/>
              </a:rPr>
              <a:t>.</a:t>
            </a:r>
            <a:r>
              <a:rPr sz="1100">
                <a:solidFill>
                  <a:srgbClr val="E6E9ED"/>
                </a:solidFill>
                <a:latin typeface="Courier New"/>
              </a:rPr>
              <a:t>println</a:t>
            </a:r>
            <a:r>
              <a:rPr sz="1100">
                <a:solidFill>
                  <a:srgbClr val="E6E9ED"/>
                </a:solidFill>
                <a:latin typeface="Courier New"/>
              </a:rPr>
              <a:t>(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   </a:t>
            </a:r>
            <a:r>
              <a:rPr sz="1100">
                <a:solidFill>
                  <a:srgbClr val="93C99B"/>
                </a:solidFill>
                <a:latin typeface="Courier New"/>
              </a:rPr>
              <a:t>"Malformed record skipped: "</a:t>
            </a:r>
            <a:r>
              <a:rPr sz="1100">
                <a:solidFill>
                  <a:srgbClr val="E6E9ED"/>
                </a:solidFill>
                <a:latin typeface="Courier New"/>
              </a:rPr>
              <a:t> + </a:t>
            </a:r>
            <a:r>
              <a:rPr sz="1100">
                <a:solidFill>
                  <a:srgbClr val="E6E9ED"/>
                </a:solidFill>
                <a:latin typeface="Courier New"/>
              </a:rPr>
              <a:t>line</a:t>
            </a:r>
            <a:r>
              <a:rPr sz="1100">
                <a:solidFill>
                  <a:srgbClr val="E6E9ED"/>
                </a:solidFill>
                <a:latin typeface="Courier New"/>
              </a:rPr>
              <a:t>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</a:t>
            </a:r>
            <a:r>
              <a:rPr sz="1100">
                <a:solidFill>
                  <a:srgbClr val="E6E9ED"/>
                </a:solidFill>
                <a:latin typeface="Courier New"/>
              </a:rPr>
              <a:t>skipped</a:t>
            </a:r>
            <a:r>
              <a:rPr sz="1100">
                <a:solidFill>
                  <a:srgbClr val="E6E9ED"/>
                </a:solidFill>
                <a:latin typeface="Courier New"/>
              </a:rPr>
              <a:t>++;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</a:t>
            </a:r>
            <a:r>
              <a:rPr sz="1100">
                <a:solidFill>
                  <a:srgbClr val="F0A64A"/>
                </a:solidFill>
                <a:latin typeface="Courier New"/>
              </a:rPr>
              <a:t>continue</a:t>
            </a:r>
            <a:r>
              <a:rPr sz="1100">
                <a:solidFill>
                  <a:srgbClr val="E6E9ED"/>
                </a:solidFill>
                <a:latin typeface="Courier New"/>
              </a:rPr>
              <a:t>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}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/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Arrays</a:t>
            </a:r>
            <a:r>
              <a:rPr sz="1100">
                <a:solidFill>
                  <a:srgbClr val="E6E9ED"/>
                </a:solidFill>
                <a:latin typeface="Courier New"/>
              </a:rPr>
              <a:t>.</a:t>
            </a:r>
            <a:r>
              <a:rPr sz="1100">
                <a:solidFill>
                  <a:srgbClr val="E6E9ED"/>
                </a:solidFill>
                <a:latin typeface="Courier New"/>
              </a:rPr>
              <a:t>sort</a:t>
            </a:r>
            <a:r>
              <a:rPr sz="1100">
                <a:solidFill>
                  <a:srgbClr val="E6E9ED"/>
                </a:solidFill>
                <a:latin typeface="Courier New"/>
              </a:rPr>
              <a:t>(</a:t>
            </a:r>
            <a:r>
              <a:rPr sz="1100">
                <a:solidFill>
                  <a:srgbClr val="E6E9ED"/>
                </a:solidFill>
                <a:latin typeface="Courier New"/>
              </a:rPr>
              <a:t>books</a:t>
            </a:r>
            <a:r>
              <a:rPr sz="1100">
                <a:solidFill>
                  <a:srgbClr val="E6E9ED"/>
                </a:solidFill>
                <a:latin typeface="Courier New"/>
              </a:rPr>
              <a:t>, 0, </a:t>
            </a:r>
            <a:r>
              <a:rPr sz="1100">
                <a:solidFill>
                  <a:srgbClr val="E6E9ED"/>
                </a:solidFill>
                <a:latin typeface="Courier New"/>
              </a:rPr>
              <a:t>count</a:t>
            </a:r>
            <a:r>
              <a:rPr sz="1100">
                <a:solidFill>
                  <a:srgbClr val="E6E9ED"/>
                </a:solidFill>
                <a:latin typeface="Courier New"/>
              </a:rPr>
              <a:t>,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         </a:t>
            </a:r>
            <a:r>
              <a:rPr sz="1100">
                <a:solidFill>
                  <a:srgbClr val="F0A64A"/>
                </a:solidFill>
                <a:latin typeface="Courier New"/>
              </a:rPr>
              <a:t>new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TitleComparator</a:t>
            </a:r>
            <a:r>
              <a:rPr sz="1100">
                <a:solidFill>
                  <a:srgbClr val="E6E9ED"/>
                </a:solidFill>
                <a:latin typeface="Courier New"/>
              </a:rPr>
              <a:t>());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F0A64A"/>
                </a:solidFill>
                <a:latin typeface="Courier New"/>
              </a:rPr>
              <a:t>int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pos</a:t>
            </a:r>
            <a:r>
              <a:rPr sz="1100">
                <a:solidFill>
                  <a:srgbClr val="E6E9ED"/>
                </a:solidFill>
                <a:latin typeface="Courier New"/>
              </a:rPr>
              <a:t> = </a:t>
            </a:r>
            <a:r>
              <a:rPr sz="1100">
                <a:solidFill>
                  <a:srgbClr val="E6E9ED"/>
                </a:solidFill>
                <a:latin typeface="Courier New"/>
              </a:rPr>
              <a:t>Arrays</a:t>
            </a:r>
            <a:r>
              <a:rPr sz="1100">
                <a:solidFill>
                  <a:srgbClr val="E6E9ED"/>
                </a:solidFill>
                <a:latin typeface="Courier New"/>
              </a:rPr>
              <a:t>.</a:t>
            </a:r>
            <a:r>
              <a:rPr sz="1100">
                <a:solidFill>
                  <a:srgbClr val="E6E9ED"/>
                </a:solidFill>
                <a:latin typeface="Courier New"/>
              </a:rPr>
              <a:t>binarySearch</a:t>
            </a:r>
            <a:r>
              <a:rPr sz="1100">
                <a:solidFill>
                  <a:srgbClr val="E6E9ED"/>
                </a:solidFill>
                <a:latin typeface="Courier New"/>
              </a:rPr>
              <a:t>(</a:t>
            </a:r>
            <a:r>
              <a:rPr sz="1100">
                <a:solidFill>
                  <a:srgbClr val="E6E9ED"/>
                </a:solidFill>
                <a:latin typeface="Courier New"/>
              </a:rPr>
              <a:t>ids</a:t>
            </a:r>
            <a:r>
              <a:rPr sz="1100">
                <a:solidFill>
                  <a:srgbClr val="E6E9ED"/>
                </a:solidFill>
                <a:latin typeface="Courier New"/>
              </a:rPr>
              <a:t>, </a:t>
            </a:r>
            <a:r>
              <a:rPr sz="1100">
                <a:solidFill>
                  <a:srgbClr val="E6E9ED"/>
                </a:solidFill>
                <a:latin typeface="Courier New"/>
              </a:rPr>
              <a:t>id</a:t>
            </a:r>
            <a:r>
              <a:rPr sz="1100">
                <a:solidFill>
                  <a:srgbClr val="E6E9ED"/>
                </a:solidFill>
                <a:latin typeface="Courier New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49808"/>
            <a:ext cx="10515600" cy="868680"/>
          </a:xfrm>
        </p:spPr>
        <p:txBody>
          <a:bodyPr wrap="square" anchor="ctr"/>
          <a:lstStyle/>
          <a:p>
            <a:r>
              <a:rPr sz="2800" b="1">
                <a:solidFill>
                  <a:srgbClr val="0E2841"/>
                </a:solidFill>
              </a:rPr>
              <a:t>CO 6  ·  Functional Programming with Collections and Streams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B529-5F96-F28F-CD50-8BFE419EE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783080"/>
            <a:ext cx="5989320" cy="422452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The array is copied into a typed ArrayList&lt;Book&gt; (generics)</a:t>
            </a:r>
            <a:endParaRPr lang="en-IN"/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Collections.sort() with a Comparator written as a lambda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Predicate&lt;Book&gt; isAvailable — a functional interface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Stream pipeline: filter, map, sorted, distinct, limit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Terminal operations: forEach, collect and count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Collectors.toList(), joining(), groupingBy(), counting()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TreeMap keeps the category counts in key order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The Map is iterated with for-each over entrySet()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E2841"/>
                </a:solidFill>
              </a:rPr>
              <a:t>Optional&lt;Book&gt; holds a result that may be absent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9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7059168" y="1783080"/>
            <a:ext cx="4297680" cy="4224528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109728" bIns="73152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1000" b="1">
                <a:solidFill>
                  <a:srgbClr val="8D9BAE"/>
                </a:solidFill>
                <a:latin typeface="Courier New"/>
              </a:rPr>
              <a:t>Smart Reports — menu option 9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Predicate</a:t>
            </a:r>
            <a:r>
              <a:rPr sz="1100">
                <a:solidFill>
                  <a:srgbClr val="E6E9ED"/>
                </a:solidFill>
                <a:latin typeface="Courier New"/>
              </a:rPr>
              <a:t>&lt;</a:t>
            </a:r>
            <a:r>
              <a:rPr sz="1100">
                <a:solidFill>
                  <a:srgbClr val="E6E9ED"/>
                </a:solidFill>
                <a:latin typeface="Courier New"/>
              </a:rPr>
              <a:t>Book</a:t>
            </a:r>
            <a:r>
              <a:rPr sz="1100">
                <a:solidFill>
                  <a:srgbClr val="E6E9ED"/>
                </a:solidFill>
                <a:latin typeface="Courier New"/>
              </a:rPr>
              <a:t>&gt; </a:t>
            </a:r>
            <a:r>
              <a:rPr sz="1100">
                <a:solidFill>
                  <a:srgbClr val="E6E9ED"/>
                </a:solidFill>
                <a:latin typeface="Courier New"/>
              </a:rPr>
              <a:t>isAvailable</a:t>
            </a:r>
            <a:r>
              <a:rPr sz="1100">
                <a:solidFill>
                  <a:srgbClr val="E6E9ED"/>
                </a:solidFill>
                <a:latin typeface="Courier New"/>
              </a:rPr>
              <a:t> =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 </a:t>
            </a:r>
            <a:r>
              <a:rPr sz="1100">
                <a:solidFill>
                  <a:srgbClr val="E6E9ED"/>
                </a:solidFill>
                <a:latin typeface="Courier New"/>
              </a:rPr>
              <a:t>b</a:t>
            </a:r>
            <a:r>
              <a:rPr sz="1100">
                <a:solidFill>
                  <a:srgbClr val="E6E9ED"/>
                </a:solidFill>
                <a:latin typeface="Courier New"/>
              </a:rPr>
              <a:t> -&gt; !</a:t>
            </a:r>
            <a:r>
              <a:rPr sz="1100">
                <a:solidFill>
                  <a:srgbClr val="E6E9ED"/>
                </a:solidFill>
                <a:latin typeface="Courier New"/>
              </a:rPr>
              <a:t>b</a:t>
            </a:r>
            <a:r>
              <a:rPr sz="1100">
                <a:solidFill>
                  <a:srgbClr val="E6E9ED"/>
                </a:solidFill>
                <a:latin typeface="Courier New"/>
              </a:rPr>
              <a:t>.</a:t>
            </a:r>
            <a:r>
              <a:rPr sz="1100">
                <a:solidFill>
                  <a:srgbClr val="E6E9ED"/>
                </a:solidFill>
                <a:latin typeface="Courier New"/>
              </a:rPr>
              <a:t>isIssued</a:t>
            </a:r>
            <a:r>
              <a:rPr sz="1100">
                <a:solidFill>
                  <a:srgbClr val="E6E9ED"/>
                </a:solidFill>
                <a:latin typeface="Courier New"/>
              </a:rPr>
              <a:t>();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/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F0A64A"/>
                </a:solidFill>
                <a:latin typeface="Courier New"/>
              </a:rPr>
              <a:t>List</a:t>
            </a:r>
            <a:r>
              <a:rPr sz="1100">
                <a:solidFill>
                  <a:srgbClr val="E6E9ED"/>
                </a:solidFill>
                <a:latin typeface="Courier New"/>
              </a:rPr>
              <a:t>&lt;</a:t>
            </a:r>
            <a:r>
              <a:rPr sz="1100">
                <a:solidFill>
                  <a:srgbClr val="F0A64A"/>
                </a:solidFill>
                <a:latin typeface="Courier New"/>
              </a:rPr>
              <a:t>String</a:t>
            </a:r>
            <a:r>
              <a:rPr sz="1100">
                <a:solidFill>
                  <a:srgbClr val="E6E9ED"/>
                </a:solidFill>
                <a:latin typeface="Courier New"/>
              </a:rPr>
              <a:t>&gt; </a:t>
            </a:r>
            <a:r>
              <a:rPr sz="1100">
                <a:solidFill>
                  <a:srgbClr val="E6E9ED"/>
                </a:solidFill>
                <a:latin typeface="Courier New"/>
              </a:rPr>
              <a:t>titles</a:t>
            </a:r>
            <a:r>
              <a:rPr sz="1100">
                <a:solidFill>
                  <a:srgbClr val="E6E9ED"/>
                </a:solidFill>
                <a:latin typeface="Courier New"/>
              </a:rPr>
              <a:t> = </a:t>
            </a:r>
            <a:r>
              <a:rPr sz="1100">
                <a:solidFill>
                  <a:srgbClr val="E6E9ED"/>
                </a:solidFill>
                <a:latin typeface="Courier New"/>
              </a:rPr>
              <a:t>list</a:t>
            </a:r>
            <a:r>
              <a:rPr sz="1100">
                <a:solidFill>
                  <a:srgbClr val="E6E9ED"/>
                </a:solidFill>
                <a:latin typeface="Courier New"/>
              </a:rPr>
              <a:t>.</a:t>
            </a:r>
            <a:r>
              <a:rPr sz="1100">
                <a:solidFill>
                  <a:srgbClr val="E6E9ED"/>
                </a:solidFill>
                <a:latin typeface="Courier New"/>
              </a:rPr>
              <a:t>stream</a:t>
            </a:r>
            <a:r>
              <a:rPr sz="1100">
                <a:solidFill>
                  <a:srgbClr val="E6E9ED"/>
                </a:solidFill>
                <a:latin typeface="Courier New"/>
              </a:rPr>
              <a:t>()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 .</a:t>
            </a:r>
            <a:r>
              <a:rPr sz="1100">
                <a:solidFill>
                  <a:srgbClr val="E6E9ED"/>
                </a:solidFill>
                <a:latin typeface="Courier New"/>
              </a:rPr>
              <a:t>filter</a:t>
            </a:r>
            <a:r>
              <a:rPr sz="1100">
                <a:solidFill>
                  <a:srgbClr val="E6E9ED"/>
                </a:solidFill>
                <a:latin typeface="Courier New"/>
              </a:rPr>
              <a:t>(</a:t>
            </a:r>
            <a:r>
              <a:rPr sz="1100">
                <a:solidFill>
                  <a:srgbClr val="E6E9ED"/>
                </a:solidFill>
                <a:latin typeface="Courier New"/>
              </a:rPr>
              <a:t>isAvailable</a:t>
            </a:r>
            <a:r>
              <a:rPr sz="1100">
                <a:solidFill>
                  <a:srgbClr val="E6E9ED"/>
                </a:solidFill>
                <a:latin typeface="Courier New"/>
              </a:rPr>
              <a:t>)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 .</a:t>
            </a:r>
            <a:r>
              <a:rPr sz="1100">
                <a:solidFill>
                  <a:srgbClr val="E6E9ED"/>
                </a:solidFill>
                <a:latin typeface="Courier New"/>
              </a:rPr>
              <a:t>map</a:t>
            </a:r>
            <a:r>
              <a:rPr sz="1100">
                <a:solidFill>
                  <a:srgbClr val="E6E9ED"/>
                </a:solidFill>
                <a:latin typeface="Courier New"/>
              </a:rPr>
              <a:t>(</a:t>
            </a:r>
            <a:r>
              <a:rPr sz="1100">
                <a:solidFill>
                  <a:srgbClr val="E6E9ED"/>
                </a:solidFill>
                <a:latin typeface="Courier New"/>
              </a:rPr>
              <a:t>b</a:t>
            </a:r>
            <a:r>
              <a:rPr sz="1100">
                <a:solidFill>
                  <a:srgbClr val="E6E9ED"/>
                </a:solidFill>
                <a:latin typeface="Courier New"/>
              </a:rPr>
              <a:t> -&gt; </a:t>
            </a:r>
            <a:r>
              <a:rPr sz="1100">
                <a:solidFill>
                  <a:srgbClr val="E6E9ED"/>
                </a:solidFill>
                <a:latin typeface="Courier New"/>
              </a:rPr>
              <a:t>b</a:t>
            </a:r>
            <a:r>
              <a:rPr sz="1100">
                <a:solidFill>
                  <a:srgbClr val="E6E9ED"/>
                </a:solidFill>
                <a:latin typeface="Courier New"/>
              </a:rPr>
              <a:t>.</a:t>
            </a:r>
            <a:r>
              <a:rPr sz="1100">
                <a:solidFill>
                  <a:srgbClr val="E6E9ED"/>
                </a:solidFill>
                <a:latin typeface="Courier New"/>
              </a:rPr>
              <a:t>getTitle</a:t>
            </a:r>
            <a:r>
              <a:rPr sz="1100">
                <a:solidFill>
                  <a:srgbClr val="E6E9ED"/>
                </a:solidFill>
                <a:latin typeface="Courier New"/>
              </a:rPr>
              <a:t>())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 .</a:t>
            </a:r>
            <a:r>
              <a:rPr sz="1100">
                <a:solidFill>
                  <a:srgbClr val="E6E9ED"/>
                </a:solidFill>
                <a:latin typeface="Courier New"/>
              </a:rPr>
              <a:t>sorted</a:t>
            </a:r>
            <a:r>
              <a:rPr sz="1100">
                <a:solidFill>
                  <a:srgbClr val="E6E9ED"/>
                </a:solidFill>
                <a:latin typeface="Courier New"/>
              </a:rPr>
              <a:t>()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 .</a:t>
            </a:r>
            <a:r>
              <a:rPr sz="1100">
                <a:solidFill>
                  <a:srgbClr val="E6E9ED"/>
                </a:solidFill>
                <a:latin typeface="Courier New"/>
              </a:rPr>
              <a:t>collect</a:t>
            </a:r>
            <a:r>
              <a:rPr sz="1100">
                <a:solidFill>
                  <a:srgbClr val="E6E9ED"/>
                </a:solidFill>
                <a:latin typeface="Courier New"/>
              </a:rPr>
              <a:t>(</a:t>
            </a:r>
            <a:r>
              <a:rPr sz="1100">
                <a:solidFill>
                  <a:srgbClr val="E6E9ED"/>
                </a:solidFill>
                <a:latin typeface="Courier New"/>
              </a:rPr>
              <a:t>Collectors</a:t>
            </a:r>
            <a:r>
              <a:rPr sz="1100">
                <a:solidFill>
                  <a:srgbClr val="E6E9ED"/>
                </a:solidFill>
                <a:latin typeface="Courier New"/>
              </a:rPr>
              <a:t>.</a:t>
            </a:r>
            <a:r>
              <a:rPr sz="1100">
                <a:solidFill>
                  <a:srgbClr val="E6E9ED"/>
                </a:solidFill>
                <a:latin typeface="Courier New"/>
              </a:rPr>
              <a:t>toList</a:t>
            </a:r>
            <a:r>
              <a:rPr sz="1100">
                <a:solidFill>
                  <a:srgbClr val="E6E9ED"/>
                </a:solidFill>
                <a:latin typeface="Courier New"/>
              </a:rPr>
              <a:t>());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/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F0A64A"/>
                </a:solidFill>
                <a:latin typeface="Courier New"/>
              </a:rPr>
              <a:t>Map</a:t>
            </a:r>
            <a:r>
              <a:rPr sz="1100">
                <a:solidFill>
                  <a:srgbClr val="E6E9ED"/>
                </a:solidFill>
                <a:latin typeface="Courier New"/>
              </a:rPr>
              <a:t>&lt;</a:t>
            </a:r>
            <a:r>
              <a:rPr sz="1100">
                <a:solidFill>
                  <a:srgbClr val="F0A64A"/>
                </a:solidFill>
                <a:latin typeface="Courier New"/>
              </a:rPr>
              <a:t>String</a:t>
            </a:r>
            <a:r>
              <a:rPr sz="1100">
                <a:solidFill>
                  <a:srgbClr val="E6E9ED"/>
                </a:solidFill>
                <a:latin typeface="Courier New"/>
              </a:rPr>
              <a:t>, </a:t>
            </a:r>
            <a:r>
              <a:rPr sz="1100">
                <a:solidFill>
                  <a:srgbClr val="E6E9ED"/>
                </a:solidFill>
                <a:latin typeface="Courier New"/>
              </a:rPr>
              <a:t>Long</a:t>
            </a:r>
            <a:r>
              <a:rPr sz="1100">
                <a:solidFill>
                  <a:srgbClr val="E6E9ED"/>
                </a:solidFill>
                <a:latin typeface="Courier New"/>
              </a:rPr>
              <a:t>&gt; </a:t>
            </a:r>
            <a:r>
              <a:rPr sz="1100">
                <a:solidFill>
                  <a:srgbClr val="E6E9ED"/>
                </a:solidFill>
                <a:latin typeface="Courier New"/>
              </a:rPr>
              <a:t>byCategory</a:t>
            </a:r>
            <a:r>
              <a:rPr sz="1100">
                <a:solidFill>
                  <a:srgbClr val="E6E9ED"/>
                </a:solidFill>
                <a:latin typeface="Courier New"/>
              </a:rPr>
              <a:t> =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</a:t>
            </a:r>
            <a:r>
              <a:rPr sz="1100">
                <a:solidFill>
                  <a:srgbClr val="F0A64A"/>
                </a:solidFill>
                <a:latin typeface="Courier New"/>
              </a:rPr>
              <a:t>new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TreeMap</a:t>
            </a:r>
            <a:r>
              <a:rPr sz="1100">
                <a:solidFill>
                  <a:srgbClr val="E6E9ED"/>
                </a:solidFill>
                <a:latin typeface="Courier New"/>
              </a:rPr>
              <a:t>&lt;</a:t>
            </a:r>
            <a:r>
              <a:rPr sz="1100">
                <a:solidFill>
                  <a:srgbClr val="F0A64A"/>
                </a:solidFill>
                <a:latin typeface="Courier New"/>
              </a:rPr>
              <a:t>String</a:t>
            </a:r>
            <a:r>
              <a:rPr sz="1100">
                <a:solidFill>
                  <a:srgbClr val="E6E9ED"/>
                </a:solidFill>
                <a:latin typeface="Courier New"/>
              </a:rPr>
              <a:t>, </a:t>
            </a:r>
            <a:r>
              <a:rPr sz="1100">
                <a:solidFill>
                  <a:srgbClr val="E6E9ED"/>
                </a:solidFill>
                <a:latin typeface="Courier New"/>
              </a:rPr>
              <a:t>Long</a:t>
            </a:r>
            <a:r>
              <a:rPr sz="1100">
                <a:solidFill>
                  <a:srgbClr val="E6E9ED"/>
                </a:solidFill>
                <a:latin typeface="Courier New"/>
              </a:rPr>
              <a:t>&gt;(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 </a:t>
            </a:r>
            <a:r>
              <a:rPr sz="1100">
                <a:solidFill>
                  <a:srgbClr val="E6E9ED"/>
                </a:solidFill>
                <a:latin typeface="Courier New"/>
              </a:rPr>
              <a:t>list</a:t>
            </a:r>
            <a:r>
              <a:rPr sz="1100">
                <a:solidFill>
                  <a:srgbClr val="E6E9ED"/>
                </a:solidFill>
                <a:latin typeface="Courier New"/>
              </a:rPr>
              <a:t>.</a:t>
            </a:r>
            <a:r>
              <a:rPr sz="1100">
                <a:solidFill>
                  <a:srgbClr val="E6E9ED"/>
                </a:solidFill>
                <a:latin typeface="Courier New"/>
              </a:rPr>
              <a:t>stream</a:t>
            </a:r>
            <a:r>
              <a:rPr sz="1100">
                <a:solidFill>
                  <a:srgbClr val="E6E9ED"/>
                </a:solidFill>
                <a:latin typeface="Courier New"/>
              </a:rPr>
              <a:t>().</a:t>
            </a:r>
            <a:r>
              <a:rPr sz="1100">
                <a:solidFill>
                  <a:srgbClr val="E6E9ED"/>
                </a:solidFill>
                <a:latin typeface="Courier New"/>
              </a:rPr>
              <a:t>collect</a:t>
            </a:r>
            <a:r>
              <a:rPr sz="1100">
                <a:solidFill>
                  <a:srgbClr val="E6E9ED"/>
                </a:solidFill>
                <a:latin typeface="Courier New"/>
              </a:rPr>
              <a:t>(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   </a:t>
            </a:r>
            <a:r>
              <a:rPr sz="1100">
                <a:solidFill>
                  <a:srgbClr val="E6E9ED"/>
                </a:solidFill>
                <a:latin typeface="Courier New"/>
              </a:rPr>
              <a:t>Collectors</a:t>
            </a:r>
            <a:r>
              <a:rPr sz="1100">
                <a:solidFill>
                  <a:srgbClr val="E6E9ED"/>
                </a:solidFill>
                <a:latin typeface="Courier New"/>
              </a:rPr>
              <a:t>.</a:t>
            </a:r>
            <a:r>
              <a:rPr sz="1100">
                <a:solidFill>
                  <a:srgbClr val="E6E9ED"/>
                </a:solidFill>
                <a:latin typeface="Courier New"/>
              </a:rPr>
              <a:t>groupingBy</a:t>
            </a:r>
            <a:r>
              <a:rPr sz="1100">
                <a:solidFill>
                  <a:srgbClr val="E6E9ED"/>
                </a:solidFill>
                <a:latin typeface="Courier New"/>
              </a:rPr>
              <a:t>(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     </a:t>
            </a:r>
            <a:r>
              <a:rPr sz="1100">
                <a:solidFill>
                  <a:srgbClr val="E6E9ED"/>
                </a:solidFill>
                <a:latin typeface="Courier New"/>
              </a:rPr>
              <a:t>b</a:t>
            </a:r>
            <a:r>
              <a:rPr sz="1100">
                <a:solidFill>
                  <a:srgbClr val="E6E9ED"/>
                </a:solidFill>
                <a:latin typeface="Courier New"/>
              </a:rPr>
              <a:t> -&gt; </a:t>
            </a:r>
            <a:r>
              <a:rPr sz="1100">
                <a:solidFill>
                  <a:srgbClr val="E6E9ED"/>
                </a:solidFill>
                <a:latin typeface="Courier New"/>
              </a:rPr>
              <a:t>b</a:t>
            </a:r>
            <a:r>
              <a:rPr sz="1100">
                <a:solidFill>
                  <a:srgbClr val="E6E9ED"/>
                </a:solidFill>
                <a:latin typeface="Courier New"/>
              </a:rPr>
              <a:t>.</a:t>
            </a:r>
            <a:r>
              <a:rPr sz="1100">
                <a:solidFill>
                  <a:srgbClr val="E6E9ED"/>
                </a:solidFill>
                <a:latin typeface="Courier New"/>
              </a:rPr>
              <a:t>getCategory</a:t>
            </a:r>
            <a:r>
              <a:rPr sz="1100">
                <a:solidFill>
                  <a:srgbClr val="E6E9ED"/>
                </a:solidFill>
                <a:latin typeface="Courier New"/>
              </a:rPr>
              <a:t>(),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     </a:t>
            </a:r>
            <a:r>
              <a:rPr sz="1100">
                <a:solidFill>
                  <a:srgbClr val="E6E9ED"/>
                </a:solidFill>
                <a:latin typeface="Courier New"/>
              </a:rPr>
              <a:t>Collectors</a:t>
            </a:r>
            <a:r>
              <a:rPr sz="1100">
                <a:solidFill>
                  <a:srgbClr val="E6E9ED"/>
                </a:solidFill>
                <a:latin typeface="Courier New"/>
              </a:rPr>
              <a:t>.</a:t>
            </a:r>
            <a:r>
              <a:rPr sz="1100">
                <a:solidFill>
                  <a:srgbClr val="E6E9ED"/>
                </a:solidFill>
                <a:latin typeface="Courier New"/>
              </a:rPr>
              <a:t>counting</a:t>
            </a:r>
            <a:r>
              <a:rPr sz="1100">
                <a:solidFill>
                  <a:srgbClr val="E6E9ED"/>
                </a:solidFill>
                <a:latin typeface="Courier New"/>
              </a:rPr>
              <a:t>())));</a:t>
            </a:r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49808"/>
            <a:ext cx="10515600" cy="868680"/>
          </a:xfrm>
        </p:spPr>
        <p:txBody>
          <a:bodyPr wrap="square" anchor="ctr"/>
          <a:lstStyle/>
          <a:p>
            <a:r>
              <a:rPr sz="2800" b="1">
                <a:solidFill>
                  <a:srgbClr val="0E284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90F1-736B-3136-6FB3-89FC4E638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783080"/>
            <a:ext cx="6537960" cy="4206240"/>
          </a:xfrm>
        </p:spPr>
        <p:txBody>
          <a:bodyPr wrap="square"/>
          <a:lstStyle/>
          <a:p>
            <a:pPr marL="0" indent="0">
              <a:spcAft>
                <a:spcPts val="1000"/>
              </a:spcAft>
              <a:buNone/>
            </a:pPr>
            <a:r>
              <a:rPr sz="1400">
                <a:solidFill>
                  <a:srgbClr val="0E2841"/>
                </a:solidFill>
              </a:rPr>
              <a:t>The project carries one working system through the whole Java sequence taught in CO1 to CO6 — procedural foundations, then methods and arrays, then objects, interfaces and exceptions, then strings, library algorithms and file handling, and finally collections, lambdas and streams.</a:t>
            </a:r>
            <a:endParaRPr lang="en-IN"/>
          </a:p>
          <a:p>
            <a:pPr marL="0" indent="0">
              <a:spcAft>
                <a:spcPts val="1000"/>
              </a:spcAft>
              <a:buNone/>
            </a:pPr>
            <a:r>
              <a:rPr sz="1400">
                <a:solidFill>
                  <a:srgbClr val="0E2841"/>
                </a:solidFill>
              </a:rPr>
              <a:t>Replacing five parallel arrays with one array of Book objects removed the risk of a title drifting away from its author. Throwing a BookNotFoundException replaced an unclear −1 return code. Writing the catalogue to library.txt turned a session-only register into a permanent record.</a:t>
            </a:r>
          </a:p>
          <a:p>
            <a:pPr marL="0" indent="0">
              <a:spcAft>
                <a:spcPts val="1000"/>
              </a:spcAft>
              <a:buNone/>
            </a:pPr>
            <a:r>
              <a:rPr sz="1400">
                <a:solidFill>
                  <a:srgbClr val="0E2841"/>
                </a:solidFill>
              </a:rPr>
              <a:t>Smart Reports then reads the same data a second way, through a typed collection and stream pipelines, so both approaches can be compared.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10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7726679" y="1783080"/>
            <a:ext cx="3630168" cy="224028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 w="12700">
            <a:solidFill>
              <a:srgbClr val="C4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46304" bIns="109728"/>
          <a:lstStyle/>
          <a:p>
            <a:pPr algn="l" marL="0" indent="0">
              <a:spcAft>
                <a:spcPts val="900"/>
              </a:spcAft>
              <a:buNone/>
            </a:pPr>
            <a:r>
              <a:rPr sz="1400" b="1">
                <a:solidFill>
                  <a:srgbClr val="156082"/>
                </a:solidFill>
              </a:rPr>
              <a:t>Future scope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>
                <a:solidFill>
                  <a:srgbClr val="0E2841"/>
                </a:solidFill>
              </a:rPr>
              <a:t>Member records, due dates and fines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>
                <a:solidFill>
                  <a:srgbClr val="0E2841"/>
                </a:solidFill>
              </a:rPr>
              <a:t>Librarian login and access levels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>
                <a:solidFill>
                  <a:srgbClr val="0E2841"/>
                </a:solidFill>
              </a:rPr>
              <a:t>Database storage through JDBC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>
                <a:solidFill>
                  <a:srgbClr val="0E2841"/>
                </a:solidFill>
              </a:rPr>
              <a:t>A graphical interface (JavaFX)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>
                <a:solidFill>
                  <a:srgbClr val="0E2841"/>
                </a:solidFill>
              </a:rPr>
              <a:t>Online reservation of an issued book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5029200"/>
            <a:ext cx="10515600" cy="100584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 w="12700">
            <a:solidFill>
              <a:srgbClr val="C4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46304" bIns="109728"/>
          <a:lstStyle/>
          <a:p>
            <a:pPr algn="l" marL="0" indent="0">
              <a:spcAft>
                <a:spcPts val="900"/>
              </a:spcAft>
              <a:buNone/>
            </a:pPr>
            <a:r>
              <a:rPr sz="1500" b="1">
                <a:solidFill>
                  <a:srgbClr val="156082"/>
                </a:solidFill>
              </a:rPr>
              <a:t>Course outcomes covered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400">
                <a:solidFill>
                  <a:srgbClr val="0E2841"/>
                </a:solidFill>
              </a:rPr>
              <a:t>CO1 basics  ·  CO2 control flow  ·  CO3 methods and arrays  ·  CO4 OOP and exceptions  ·  CO5 strings, algorithms and files  ·  CO6 collections and streams — all six demonstrated inside one runnable program.</a:t>
            </a:r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49808"/>
            <a:ext cx="10515600" cy="868680"/>
          </a:xfrm>
        </p:spPr>
        <p:txBody>
          <a:bodyPr wrap="square" anchor="ctr"/>
          <a:lstStyle/>
          <a:p>
            <a:r>
              <a:rPr sz="2800" b="1">
                <a:solidFill>
                  <a:srgbClr val="0E2841"/>
                </a:solidFill>
              </a:rPr>
              <a:t>Screen Shots — Actual Console Output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841248" y="1783080"/>
            <a:ext cx="10515600" cy="160020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109728" bIns="73152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1000" b="1">
                <a:solidFill>
                  <a:srgbClr val="8D9BAE"/>
                </a:solidFill>
                <a:latin typeface="Courier New"/>
              </a:rPr>
              <a:t>$ java CommunityLibrary   —   option 2 : Display Books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ID</a:t>
            </a:r>
            <a:r>
              <a:rPr sz="1100">
                <a:solidFill>
                  <a:srgbClr val="E6E9ED"/>
                </a:solidFill>
                <a:latin typeface="Courier New"/>
              </a:rPr>
              <a:t>     </a:t>
            </a:r>
            <a:r>
              <a:rPr sz="1100">
                <a:solidFill>
                  <a:srgbClr val="E6E9ED"/>
                </a:solidFill>
                <a:latin typeface="Courier New"/>
              </a:rPr>
              <a:t>Book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Name</a:t>
            </a:r>
            <a:r>
              <a:rPr sz="1100">
                <a:solidFill>
                  <a:srgbClr val="E6E9ED"/>
                </a:solidFill>
                <a:latin typeface="Courier New"/>
              </a:rPr>
              <a:t>                  </a:t>
            </a:r>
            <a:r>
              <a:rPr sz="1100">
                <a:solidFill>
                  <a:srgbClr val="E6E9ED"/>
                </a:solidFill>
                <a:latin typeface="Courier New"/>
              </a:rPr>
              <a:t>Author</a:t>
            </a:r>
            <a:r>
              <a:rPr sz="1100">
                <a:solidFill>
                  <a:srgbClr val="E6E9ED"/>
                </a:solidFill>
                <a:latin typeface="Courier New"/>
              </a:rPr>
              <a:t>               </a:t>
            </a:r>
            <a:r>
              <a:rPr sz="1100">
                <a:solidFill>
                  <a:srgbClr val="E6E9ED"/>
                </a:solidFill>
                <a:latin typeface="Courier New"/>
              </a:rPr>
              <a:t>Category</a:t>
            </a:r>
            <a:r>
              <a:rPr sz="1100">
                <a:solidFill>
                  <a:srgbClr val="E6E9ED"/>
                </a:solidFill>
                <a:latin typeface="Courier New"/>
              </a:rPr>
              <a:t>     </a:t>
            </a:r>
            <a:r>
              <a:rPr sz="1100">
                <a:solidFill>
                  <a:srgbClr val="E6E9ED"/>
                </a:solidFill>
                <a:latin typeface="Courier New"/>
              </a:rPr>
              <a:t>Status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------------------------------------------------------------------------------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101    </a:t>
            </a:r>
            <a:r>
              <a:rPr sz="1100">
                <a:solidFill>
                  <a:srgbClr val="E6E9ED"/>
                </a:solidFill>
                <a:latin typeface="Courier New"/>
              </a:rPr>
              <a:t>The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Alchemist</a:t>
            </a:r>
            <a:r>
              <a:rPr sz="1100">
                <a:solidFill>
                  <a:srgbClr val="E6E9ED"/>
                </a:solidFill>
                <a:latin typeface="Courier New"/>
              </a:rPr>
              <a:t>              </a:t>
            </a:r>
            <a:r>
              <a:rPr sz="1100">
                <a:solidFill>
                  <a:srgbClr val="E6E9ED"/>
                </a:solidFill>
                <a:latin typeface="Courier New"/>
              </a:rPr>
              <a:t>Paulo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Coelho</a:t>
            </a:r>
            <a:r>
              <a:rPr sz="1100">
                <a:solidFill>
                  <a:srgbClr val="E6E9ED"/>
                </a:solidFill>
                <a:latin typeface="Courier New"/>
              </a:rPr>
              <a:t>         </a:t>
            </a:r>
            <a:r>
              <a:rPr sz="1100">
                <a:solidFill>
                  <a:srgbClr val="E6E9ED"/>
                </a:solidFill>
                <a:latin typeface="Courier New"/>
              </a:rPr>
              <a:t>Fiction</a:t>
            </a:r>
            <a:r>
              <a:rPr sz="1100">
                <a:solidFill>
                  <a:srgbClr val="E6E9ED"/>
                </a:solidFill>
                <a:latin typeface="Courier New"/>
              </a:rPr>
              <a:t>      </a:t>
            </a:r>
            <a:r>
              <a:rPr sz="1100">
                <a:solidFill>
                  <a:srgbClr val="E6E9ED"/>
                </a:solidFill>
                <a:latin typeface="Courier New"/>
              </a:rPr>
              <a:t>Issued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102    </a:t>
            </a:r>
            <a:r>
              <a:rPr sz="1100">
                <a:solidFill>
                  <a:srgbClr val="E6E9ED"/>
                </a:solidFill>
                <a:latin typeface="Courier New"/>
              </a:rPr>
              <a:t>Wings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of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Fire</a:t>
            </a:r>
            <a:r>
              <a:rPr sz="1100">
                <a:solidFill>
                  <a:srgbClr val="E6E9ED"/>
                </a:solidFill>
                <a:latin typeface="Courier New"/>
              </a:rPr>
              <a:t>              </a:t>
            </a:r>
            <a:r>
              <a:rPr sz="1100">
                <a:solidFill>
                  <a:srgbClr val="E6E9ED"/>
                </a:solidFill>
                <a:latin typeface="Courier New"/>
              </a:rPr>
              <a:t>A</a:t>
            </a:r>
            <a:r>
              <a:rPr sz="1100">
                <a:solidFill>
                  <a:srgbClr val="E6E9ED"/>
                </a:solidFill>
                <a:latin typeface="Courier New"/>
              </a:rPr>
              <a:t>.</a:t>
            </a:r>
            <a:r>
              <a:rPr sz="1100">
                <a:solidFill>
                  <a:srgbClr val="E6E9ED"/>
                </a:solidFill>
                <a:latin typeface="Courier New"/>
              </a:rPr>
              <a:t>P</a:t>
            </a:r>
            <a:r>
              <a:rPr sz="1100">
                <a:solidFill>
                  <a:srgbClr val="E6E9ED"/>
                </a:solidFill>
                <a:latin typeface="Courier New"/>
              </a:rPr>
              <a:t>.</a:t>
            </a:r>
            <a:r>
              <a:rPr sz="1100">
                <a:solidFill>
                  <a:srgbClr val="E6E9ED"/>
                </a:solidFill>
                <a:latin typeface="Courier New"/>
              </a:rPr>
              <a:t>J</a:t>
            </a:r>
            <a:r>
              <a:rPr sz="1100">
                <a:solidFill>
                  <a:srgbClr val="E6E9ED"/>
                </a:solidFill>
                <a:latin typeface="Courier New"/>
              </a:rPr>
              <a:t>. </a:t>
            </a:r>
            <a:r>
              <a:rPr sz="1100">
                <a:solidFill>
                  <a:srgbClr val="E6E9ED"/>
                </a:solidFill>
                <a:latin typeface="Courier New"/>
              </a:rPr>
              <a:t>Abdul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Kalam</a:t>
            </a:r>
            <a:r>
              <a:rPr sz="1100">
                <a:solidFill>
                  <a:srgbClr val="E6E9ED"/>
                </a:solidFill>
                <a:latin typeface="Courier New"/>
              </a:rPr>
              <a:t>   </a:t>
            </a:r>
            <a:r>
              <a:rPr sz="1100">
                <a:solidFill>
                  <a:srgbClr val="E6E9ED"/>
                </a:solidFill>
                <a:latin typeface="Courier New"/>
              </a:rPr>
              <a:t>Non</a:t>
            </a:r>
            <a:r>
              <a:rPr sz="1100">
                <a:solidFill>
                  <a:srgbClr val="E6E9ED"/>
                </a:solidFill>
                <a:latin typeface="Courier New"/>
              </a:rPr>
              <a:t>-</a:t>
            </a:r>
            <a:r>
              <a:rPr sz="1100">
                <a:solidFill>
                  <a:srgbClr val="E6E9ED"/>
                </a:solidFill>
                <a:latin typeface="Courier New"/>
              </a:rPr>
              <a:t>Fiction</a:t>
            </a:r>
            <a:r>
              <a:rPr sz="1100">
                <a:solidFill>
                  <a:srgbClr val="E6E9ED"/>
                </a:solidFill>
                <a:latin typeface="Courier New"/>
              </a:rPr>
              <a:t>  </a:t>
            </a:r>
            <a:r>
              <a:rPr sz="1100">
                <a:solidFill>
                  <a:srgbClr val="E6E9ED"/>
                </a:solidFill>
                <a:latin typeface="Courier New"/>
              </a:rPr>
              <a:t>Available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103    </a:t>
            </a:r>
            <a:r>
              <a:rPr sz="1100">
                <a:solidFill>
                  <a:srgbClr val="E6E9ED"/>
                </a:solidFill>
                <a:latin typeface="Courier New"/>
              </a:rPr>
              <a:t>Panchatantra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Stories</a:t>
            </a:r>
            <a:r>
              <a:rPr sz="1100">
                <a:solidFill>
                  <a:srgbClr val="E6E9ED"/>
                </a:solidFill>
                <a:latin typeface="Courier New"/>
              </a:rPr>
              <a:t>       </a:t>
            </a:r>
            <a:r>
              <a:rPr sz="1100">
                <a:solidFill>
                  <a:srgbClr val="E6E9ED"/>
                </a:solidFill>
                <a:latin typeface="Courier New"/>
              </a:rPr>
              <a:t>Vishnu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Sharma</a:t>
            </a:r>
            <a:r>
              <a:rPr sz="1100">
                <a:solidFill>
                  <a:srgbClr val="E6E9ED"/>
                </a:solidFill>
                <a:latin typeface="Courier New"/>
              </a:rPr>
              <a:t>        </a:t>
            </a:r>
            <a:r>
              <a:rPr sz="1100">
                <a:solidFill>
                  <a:srgbClr val="E6E9ED"/>
                </a:solidFill>
                <a:latin typeface="Courier New"/>
              </a:rPr>
              <a:t>Children</a:t>
            </a:r>
            <a:r>
              <a:rPr sz="1100">
                <a:solidFill>
                  <a:srgbClr val="E6E9ED"/>
                </a:solidFill>
                <a:latin typeface="Courier New"/>
              </a:rPr>
              <a:t>     </a:t>
            </a:r>
            <a:r>
              <a:rPr sz="1100">
                <a:solidFill>
                  <a:srgbClr val="E6E9ED"/>
                </a:solidFill>
                <a:latin typeface="Courier New"/>
              </a:rPr>
              <a:t>Available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104    </a:t>
            </a:r>
            <a:r>
              <a:rPr sz="1100">
                <a:solidFill>
                  <a:srgbClr val="E6E9ED"/>
                </a:solidFill>
                <a:latin typeface="Courier New"/>
              </a:rPr>
              <a:t>Indian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Constitution</a:t>
            </a:r>
            <a:r>
              <a:rPr sz="1100">
                <a:solidFill>
                  <a:srgbClr val="E6E9ED"/>
                </a:solidFill>
                <a:latin typeface="Courier New"/>
              </a:rPr>
              <a:t>        </a:t>
            </a:r>
            <a:r>
              <a:rPr sz="1100">
                <a:solidFill>
                  <a:srgbClr val="E6E9ED"/>
                </a:solidFill>
                <a:latin typeface="Courier New"/>
              </a:rPr>
              <a:t>Vishnu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Sharma</a:t>
            </a:r>
            <a:r>
              <a:rPr sz="1100">
                <a:solidFill>
                  <a:srgbClr val="E6E9ED"/>
                </a:solidFill>
                <a:latin typeface="Courier New"/>
              </a:rPr>
              <a:t>        </a:t>
            </a:r>
            <a:r>
              <a:rPr sz="1100">
                <a:solidFill>
                  <a:srgbClr val="E6E9ED"/>
                </a:solidFill>
                <a:latin typeface="Courier New"/>
              </a:rPr>
              <a:t>Reference</a:t>
            </a:r>
            <a:r>
              <a:rPr sz="1100">
                <a:solidFill>
                  <a:srgbClr val="E6E9ED"/>
                </a:solidFill>
                <a:latin typeface="Courier New"/>
              </a:rPr>
              <a:t>    </a:t>
            </a:r>
            <a:r>
              <a:rPr sz="1100">
                <a:solidFill>
                  <a:srgbClr val="E6E9ED"/>
                </a:solidFill>
                <a:latin typeface="Courier New"/>
              </a:rPr>
              <a:t>Issued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3520440"/>
            <a:ext cx="10515600" cy="2651760"/>
          </a:xfrm>
          <a:prstGeom prst="roundRect">
            <a:avLst>
              <a:gd name="adj" fmla="val 4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tIns="109728" bIns="73152"/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sz="1000" b="1">
                <a:solidFill>
                  <a:srgbClr val="8D9BAE"/>
                </a:solidFill>
                <a:latin typeface="Courier New"/>
              </a:rPr>
              <a:t>$ java CommunityLibrary   —   option 9 : Smart Reports (CO6)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===== </a:t>
            </a:r>
            <a:r>
              <a:rPr sz="1100">
                <a:solidFill>
                  <a:srgbClr val="E6E9ED"/>
                </a:solidFill>
                <a:latin typeface="Courier New"/>
              </a:rPr>
              <a:t>SMART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REPORTS</a:t>
            </a:r>
            <a:r>
              <a:rPr sz="1100">
                <a:solidFill>
                  <a:srgbClr val="E6E9ED"/>
                </a:solidFill>
                <a:latin typeface="Courier New"/>
              </a:rPr>
              <a:t> (</a:t>
            </a:r>
            <a:r>
              <a:rPr sz="1100">
                <a:solidFill>
                  <a:srgbClr val="E6E9ED"/>
                </a:solidFill>
                <a:latin typeface="Courier New"/>
              </a:rPr>
              <a:t>Collections</a:t>
            </a:r>
            <a:r>
              <a:rPr sz="1100">
                <a:solidFill>
                  <a:srgbClr val="E6E9ED"/>
                </a:solidFill>
                <a:latin typeface="Courier New"/>
              </a:rPr>
              <a:t> &amp; </a:t>
            </a:r>
            <a:r>
              <a:rPr sz="1100">
                <a:solidFill>
                  <a:srgbClr val="E6E9ED"/>
                </a:solidFill>
                <a:latin typeface="Courier New"/>
              </a:rPr>
              <a:t>Streams</a:t>
            </a:r>
            <a:r>
              <a:rPr sz="1100">
                <a:solidFill>
                  <a:srgbClr val="E6E9ED"/>
                </a:solidFill>
                <a:latin typeface="Courier New"/>
              </a:rPr>
              <a:t>) =====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Books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copied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into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an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ArrayList</a:t>
            </a:r>
            <a:r>
              <a:rPr sz="1100">
                <a:solidFill>
                  <a:srgbClr val="E6E9ED"/>
                </a:solidFill>
                <a:latin typeface="Courier New"/>
              </a:rPr>
              <a:t> : 4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-- </a:t>
            </a:r>
            <a:r>
              <a:rPr sz="1100">
                <a:solidFill>
                  <a:srgbClr val="E6E9ED"/>
                </a:solidFill>
                <a:latin typeface="Courier New"/>
              </a:rPr>
              <a:t>Available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titles</a:t>
            </a:r>
            <a:r>
              <a:rPr sz="1100">
                <a:solidFill>
                  <a:srgbClr val="E6E9ED"/>
                </a:solidFill>
                <a:latin typeface="Courier New"/>
              </a:rPr>
              <a:t> (</a:t>
            </a:r>
            <a:r>
              <a:rPr sz="1100">
                <a:solidFill>
                  <a:srgbClr val="E6E9ED"/>
                </a:solidFill>
                <a:latin typeface="Courier New"/>
              </a:rPr>
              <a:t>filter</a:t>
            </a:r>
            <a:r>
              <a:rPr sz="1100">
                <a:solidFill>
                  <a:srgbClr val="E6E9ED"/>
                </a:solidFill>
                <a:latin typeface="Courier New"/>
              </a:rPr>
              <a:t> / </a:t>
            </a:r>
            <a:r>
              <a:rPr sz="1100">
                <a:solidFill>
                  <a:srgbClr val="E6E9ED"/>
                </a:solidFill>
                <a:latin typeface="Courier New"/>
              </a:rPr>
              <a:t>map</a:t>
            </a:r>
            <a:r>
              <a:rPr sz="1100">
                <a:solidFill>
                  <a:srgbClr val="E6E9ED"/>
                </a:solidFill>
                <a:latin typeface="Courier New"/>
              </a:rPr>
              <a:t> / </a:t>
            </a:r>
            <a:r>
              <a:rPr sz="1100">
                <a:solidFill>
                  <a:srgbClr val="E6E9ED"/>
                </a:solidFill>
                <a:latin typeface="Courier New"/>
              </a:rPr>
              <a:t>sorted</a:t>
            </a:r>
            <a:r>
              <a:rPr sz="1100">
                <a:solidFill>
                  <a:srgbClr val="E6E9ED"/>
                </a:solidFill>
                <a:latin typeface="Courier New"/>
              </a:rPr>
              <a:t> / </a:t>
            </a:r>
            <a:r>
              <a:rPr sz="1100">
                <a:solidFill>
                  <a:srgbClr val="E6E9ED"/>
                </a:solidFill>
                <a:latin typeface="Courier New"/>
              </a:rPr>
              <a:t>collect</a:t>
            </a:r>
            <a:r>
              <a:rPr sz="1100">
                <a:solidFill>
                  <a:srgbClr val="E6E9ED"/>
                </a:solidFill>
                <a:latin typeface="Courier New"/>
              </a:rPr>
              <a:t>) --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[</a:t>
            </a:r>
            <a:r>
              <a:rPr sz="1100">
                <a:solidFill>
                  <a:srgbClr val="E6E9ED"/>
                </a:solidFill>
                <a:latin typeface="Courier New"/>
              </a:rPr>
              <a:t>Panchatantra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Stories</a:t>
            </a:r>
            <a:r>
              <a:rPr sz="1100">
                <a:solidFill>
                  <a:srgbClr val="E6E9ED"/>
                </a:solidFill>
                <a:latin typeface="Courier New"/>
              </a:rPr>
              <a:t>, </a:t>
            </a:r>
            <a:r>
              <a:rPr sz="1100">
                <a:solidFill>
                  <a:srgbClr val="E6E9ED"/>
                </a:solidFill>
                <a:latin typeface="Courier New"/>
              </a:rPr>
              <a:t>Wings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of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Fire</a:t>
            </a:r>
            <a:r>
              <a:rPr sz="1100">
                <a:solidFill>
                  <a:srgbClr val="E6E9ED"/>
                </a:solidFill>
                <a:latin typeface="Courier New"/>
              </a:rPr>
              <a:t>]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-- </a:t>
            </a:r>
            <a:r>
              <a:rPr sz="1100">
                <a:solidFill>
                  <a:srgbClr val="E6E9ED"/>
                </a:solidFill>
                <a:latin typeface="Courier New"/>
              </a:rPr>
              <a:t>Books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per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category</a:t>
            </a:r>
            <a:r>
              <a:rPr sz="1100">
                <a:solidFill>
                  <a:srgbClr val="E6E9ED"/>
                </a:solidFill>
                <a:latin typeface="Courier New"/>
              </a:rPr>
              <a:t> (</a:t>
            </a:r>
            <a:r>
              <a:rPr sz="1100">
                <a:solidFill>
                  <a:srgbClr val="E6E9ED"/>
                </a:solidFill>
                <a:latin typeface="Courier New"/>
              </a:rPr>
              <a:t>Collectors</a:t>
            </a:r>
            <a:r>
              <a:rPr sz="1100">
                <a:solidFill>
                  <a:srgbClr val="E6E9ED"/>
                </a:solidFill>
                <a:latin typeface="Courier New"/>
              </a:rPr>
              <a:t>.</a:t>
            </a:r>
            <a:r>
              <a:rPr sz="1100">
                <a:solidFill>
                  <a:srgbClr val="E6E9ED"/>
                </a:solidFill>
                <a:latin typeface="Courier New"/>
              </a:rPr>
              <a:t>groupingBy</a:t>
            </a:r>
            <a:r>
              <a:rPr sz="1100">
                <a:solidFill>
                  <a:srgbClr val="E6E9ED"/>
                </a:solidFill>
                <a:latin typeface="Courier New"/>
              </a:rPr>
              <a:t> + </a:t>
            </a:r>
            <a:r>
              <a:rPr sz="1100">
                <a:solidFill>
                  <a:srgbClr val="E6E9ED"/>
                </a:solidFill>
                <a:latin typeface="Courier New"/>
              </a:rPr>
              <a:t>counting</a:t>
            </a:r>
            <a:r>
              <a:rPr sz="1100">
                <a:solidFill>
                  <a:srgbClr val="E6E9ED"/>
                </a:solidFill>
                <a:latin typeface="Courier New"/>
              </a:rPr>
              <a:t>) --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</a:t>
            </a:r>
            <a:r>
              <a:rPr sz="1100">
                <a:solidFill>
                  <a:srgbClr val="E6E9ED"/>
                </a:solidFill>
                <a:latin typeface="Courier New"/>
              </a:rPr>
              <a:t>Children</a:t>
            </a:r>
            <a:r>
              <a:rPr sz="1100">
                <a:solidFill>
                  <a:srgbClr val="E6E9ED"/>
                </a:solidFill>
                <a:latin typeface="Courier New"/>
              </a:rPr>
              <a:t> : 1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</a:t>
            </a:r>
            <a:r>
              <a:rPr sz="1100">
                <a:solidFill>
                  <a:srgbClr val="E6E9ED"/>
                </a:solidFill>
                <a:latin typeface="Courier New"/>
              </a:rPr>
              <a:t>Fiction</a:t>
            </a:r>
            <a:r>
              <a:rPr sz="1100">
                <a:solidFill>
                  <a:srgbClr val="E6E9ED"/>
                </a:solidFill>
                <a:latin typeface="Courier New"/>
              </a:rPr>
              <a:t> : 1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</a:t>
            </a:r>
            <a:r>
              <a:rPr sz="1100">
                <a:solidFill>
                  <a:srgbClr val="E6E9ED"/>
                </a:solidFill>
                <a:latin typeface="Courier New"/>
              </a:rPr>
              <a:t>Non</a:t>
            </a:r>
            <a:r>
              <a:rPr sz="1100">
                <a:solidFill>
                  <a:srgbClr val="E6E9ED"/>
                </a:solidFill>
                <a:latin typeface="Courier New"/>
              </a:rPr>
              <a:t>-</a:t>
            </a:r>
            <a:r>
              <a:rPr sz="1100">
                <a:solidFill>
                  <a:srgbClr val="E6E9ED"/>
                </a:solidFill>
                <a:latin typeface="Courier New"/>
              </a:rPr>
              <a:t>Fiction</a:t>
            </a:r>
            <a:r>
              <a:rPr sz="1100">
                <a:solidFill>
                  <a:srgbClr val="E6E9ED"/>
                </a:solidFill>
                <a:latin typeface="Courier New"/>
              </a:rPr>
              <a:t> : 1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   </a:t>
            </a:r>
            <a:r>
              <a:rPr sz="1100">
                <a:solidFill>
                  <a:srgbClr val="E6E9ED"/>
                </a:solidFill>
                <a:latin typeface="Courier New"/>
              </a:rPr>
              <a:t>Reference</a:t>
            </a:r>
            <a:r>
              <a:rPr sz="1100">
                <a:solidFill>
                  <a:srgbClr val="E6E9ED"/>
                </a:solidFill>
                <a:latin typeface="Courier New"/>
              </a:rPr>
              <a:t> : 1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Available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right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now</a:t>
            </a:r>
            <a:r>
              <a:rPr sz="1100">
                <a:solidFill>
                  <a:srgbClr val="E6E9ED"/>
                </a:solidFill>
                <a:latin typeface="Courier New"/>
              </a:rPr>
              <a:t> (</a:t>
            </a:r>
            <a:r>
              <a:rPr sz="1100">
                <a:solidFill>
                  <a:srgbClr val="E6E9ED"/>
                </a:solidFill>
                <a:latin typeface="Courier New"/>
              </a:rPr>
              <a:t>stream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count</a:t>
            </a:r>
            <a:r>
              <a:rPr sz="1100">
                <a:solidFill>
                  <a:srgbClr val="E6E9ED"/>
                </a:solidFill>
                <a:latin typeface="Courier New"/>
              </a:rPr>
              <a:t>) : 2</a:t>
            </a:r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sz="1100">
                <a:solidFill>
                  <a:srgbClr val="E6E9ED"/>
                </a:solidFill>
                <a:latin typeface="Courier New"/>
              </a:rPr>
              <a:t>First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issued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book</a:t>
            </a:r>
            <a:r>
              <a:rPr sz="1100">
                <a:solidFill>
                  <a:srgbClr val="E6E9ED"/>
                </a:solidFill>
                <a:latin typeface="Courier New"/>
              </a:rPr>
              <a:t> (</a:t>
            </a:r>
            <a:r>
              <a:rPr sz="1100">
                <a:solidFill>
                  <a:srgbClr val="E6E9ED"/>
                </a:solidFill>
                <a:latin typeface="Courier New"/>
              </a:rPr>
              <a:t>Optional</a:t>
            </a:r>
            <a:r>
              <a:rPr sz="1100">
                <a:solidFill>
                  <a:srgbClr val="E6E9ED"/>
                </a:solidFill>
                <a:latin typeface="Courier New"/>
              </a:rPr>
              <a:t>)       : </a:t>
            </a:r>
            <a:r>
              <a:rPr sz="1100">
                <a:solidFill>
                  <a:srgbClr val="E6E9ED"/>
                </a:solidFill>
                <a:latin typeface="Courier New"/>
              </a:rPr>
              <a:t>The</a:t>
            </a:r>
            <a:r>
              <a:rPr sz="1100">
                <a:solidFill>
                  <a:srgbClr val="E6E9ED"/>
                </a:solidFill>
                <a:latin typeface="Courier New"/>
              </a:rPr>
              <a:t> </a:t>
            </a:r>
            <a:r>
              <a:rPr sz="1100">
                <a:solidFill>
                  <a:srgbClr val="E6E9ED"/>
                </a:solidFill>
                <a:latin typeface="Courier New"/>
              </a:rPr>
              <a:t>Alchemist</a:t>
            </a:r>
          </a:p>
        </p:txBody>
      </p:sp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749808"/>
            <a:ext cx="10515600" cy="868680"/>
          </a:xfrm>
        </p:spPr>
        <p:txBody>
          <a:bodyPr wrap="square" anchor="ctr"/>
          <a:lstStyle/>
          <a:p>
            <a:r>
              <a:rPr sz="2800" b="1">
                <a:solidFill>
                  <a:srgbClr val="0E2841"/>
                </a:solidFill>
              </a:rPr>
              <a:t>Geo-Tagged Photo and GitHub Link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4C08-598A-44BF-A4B1-00F35979A9B0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12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841248" y="1783080"/>
            <a:ext cx="5029200" cy="420624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 w="12700">
            <a:solidFill>
              <a:srgbClr val="C4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46304" bIns="109728"/>
          <a:lstStyle/>
          <a:p>
            <a:pPr algn="l" marL="0" indent="0">
              <a:spcAft>
                <a:spcPts val="900"/>
              </a:spcAft>
              <a:buNone/>
            </a:pPr>
            <a:r>
              <a:rPr sz="1400" b="1">
                <a:solidFill>
                  <a:srgbClr val="E97132"/>
                </a:solidFill>
              </a:rPr>
              <a:t>Geo-tagged photo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>
                <a:solidFill>
                  <a:srgbClr val="0E2841"/>
                </a:solidFill>
              </a:rPr>
              <a:t/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>
                <a:solidFill>
                  <a:srgbClr val="0E2841"/>
                </a:solidFill>
              </a:rPr>
              <a:t>[ PASTE YOUR GEO-TAGGED TEAM PHOTO HERE ]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>
                <a:solidFill>
                  <a:srgbClr val="0E2841"/>
                </a:solidFill>
              </a:rPr>
              <a:t/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>
                <a:solidFill>
                  <a:srgbClr val="0E2841"/>
                </a:solidFill>
              </a:rPr>
              <a:t>Insert → Pictures, then drag it to fill this card.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>
                <a:solidFill>
                  <a:srgbClr val="0E2841"/>
                </a:solidFill>
              </a:rPr>
              <a:t>The photo must show the location stamp.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783080"/>
            <a:ext cx="5029200" cy="4206240"/>
          </a:xfrm>
          <a:prstGeom prst="roundRect">
            <a:avLst>
              <a:gd name="adj" fmla="val 5000"/>
            </a:avLst>
          </a:prstGeom>
          <a:solidFill>
            <a:srgbClr val="F2F5F7"/>
          </a:solidFill>
          <a:ln w="12700">
            <a:solidFill>
              <a:srgbClr val="C4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46304" bIns="109728"/>
          <a:lstStyle/>
          <a:p>
            <a:pPr algn="l" marL="0" indent="0">
              <a:spcAft>
                <a:spcPts val="900"/>
              </a:spcAft>
              <a:buNone/>
            </a:pPr>
            <a:r>
              <a:rPr sz="1400" b="1">
                <a:solidFill>
                  <a:srgbClr val="156082"/>
                </a:solidFill>
              </a:rPr>
              <a:t>GitHub repository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>
                <a:solidFill>
                  <a:srgbClr val="0E2841"/>
                </a:solidFill>
              </a:rPr>
              <a:t/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>
                <a:solidFill>
                  <a:srgbClr val="0E2841"/>
                </a:solidFill>
              </a:rPr>
              <a:t>[ PASTE YOUR REPOSITORY LINK HERE ]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>
                <a:solidFill>
                  <a:srgbClr val="0E2841"/>
                </a:solidFill>
              </a:rPr>
              <a:t/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>
                <a:solidFill>
                  <a:srgbClr val="0E2841"/>
                </a:solidFill>
              </a:rPr>
              <a:t>e.g.  github.com/&lt;username&gt;/community-library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>
                <a:solidFill>
                  <a:srgbClr val="0E2841"/>
                </a:solidFill>
              </a:rPr>
              <a:t/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>
                <a:solidFill>
                  <a:srgbClr val="0E2841"/>
                </a:solidFill>
              </a:rPr>
              <a:t>Repository should contain: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>
                <a:solidFill>
                  <a:srgbClr val="0E2841"/>
                </a:solidFill>
              </a:rPr>
              <a:t>   CommunityLibrary.java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>
                <a:solidFill>
                  <a:srgbClr val="0E2841"/>
                </a:solidFill>
              </a:rPr>
              <a:t>   library.txt  (sample data)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sz="1300">
                <a:solidFill>
                  <a:srgbClr val="0E2841"/>
                </a:solidFill>
              </a:rPr>
              <a:t>   README.md</a:t>
            </a:r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</Words>
  <Application>Microsoft Office PowerPoint</Application>
  <PresentationFormat>Widescreen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Title of the Project Team No</vt:lpstr>
      <vt:lpstr>Abstract</vt:lpstr>
      <vt:lpstr>Understanding Problem Statement</vt:lpstr>
      <vt:lpstr>CO 1 Topics</vt:lpstr>
      <vt:lpstr>Co 2 TOPICS</vt:lpstr>
      <vt:lpstr>CO 3 Topics</vt:lpstr>
      <vt:lpstr>CO 4</vt:lpstr>
      <vt:lpstr>CO 5</vt:lpstr>
      <vt:lpstr>CO 6</vt:lpstr>
      <vt:lpstr>Conclusion</vt:lpstr>
      <vt:lpstr>Screen Shots</vt:lpstr>
      <vt:lpstr>Geo Tag Photo and git 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TSP MADHURI</cp:lastModifiedBy>
  <cp:revision>2</cp:revision>
  <dcterms:created xsi:type="dcterms:W3CDTF">2026-09-15T09:57:10Z</dcterms:created>
  <dcterms:modified xsi:type="dcterms:W3CDTF">2026-10-15T08:03:08Z</dcterms:modified>
</cp:coreProperties>
</file>